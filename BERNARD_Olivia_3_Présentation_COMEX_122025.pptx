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D9EA68-4627-4393-A52C-4BB65E967CA1}" v="64" dt="2026-01-03T17:31:04.8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385" autoAdjust="0"/>
  </p:normalViewPr>
  <p:slideViewPr>
    <p:cSldViewPr snapToGrid="0" snapToObjects="1">
      <p:cViewPr varScale="1">
        <p:scale>
          <a:sx n="55" d="100"/>
          <a:sy n="55" d="100"/>
        </p:scale>
        <p:origin x="3234" y="2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ia TAURAND" userId="73cd173347e98645" providerId="LiveId" clId="{EEB6157E-5311-49D6-93BA-993CA8D41C78}"/>
    <pc:docChg chg="undo custSel delSld modSld">
      <pc:chgData name="Olivia TAURAND" userId="73cd173347e98645" providerId="LiveId" clId="{EEB6157E-5311-49D6-93BA-993CA8D41C78}" dt="2026-01-05T12:56:42.997" v="647" actId="20577"/>
      <pc:docMkLst>
        <pc:docMk/>
      </pc:docMkLst>
      <pc:sldChg chg="modNotesTx">
        <pc:chgData name="Olivia TAURAND" userId="73cd173347e98645" providerId="LiveId" clId="{EEB6157E-5311-49D6-93BA-993CA8D41C78}" dt="2026-01-03T13:04:12.511" v="479" actId="20577"/>
        <pc:sldMkLst>
          <pc:docMk/>
          <pc:sldMk cId="0" sldId="256"/>
        </pc:sldMkLst>
      </pc:sldChg>
      <pc:sldChg chg="addSp delSp modSp mod modNotesTx">
        <pc:chgData name="Olivia TAURAND" userId="73cd173347e98645" providerId="LiveId" clId="{EEB6157E-5311-49D6-93BA-993CA8D41C78}" dt="2026-01-03T13:04:55.351" v="493" actId="20577"/>
        <pc:sldMkLst>
          <pc:docMk/>
          <pc:sldMk cId="0" sldId="257"/>
        </pc:sldMkLst>
        <pc:spChg chg="mod">
          <ac:chgData name="Olivia TAURAND" userId="73cd173347e98645" providerId="LiveId" clId="{EEB6157E-5311-49D6-93BA-993CA8D41C78}" dt="2026-01-03T13:04:22.928" v="485" actId="6549"/>
          <ac:spMkLst>
            <pc:docMk/>
            <pc:sldMk cId="0" sldId="257"/>
            <ac:spMk id="2" creationId="{00000000-0000-0000-0000-000000000000}"/>
          </ac:spMkLst>
        </pc:spChg>
      </pc:sldChg>
      <pc:sldChg chg="modNotesTx">
        <pc:chgData name="Olivia TAURAND" userId="73cd173347e98645" providerId="LiveId" clId="{EEB6157E-5311-49D6-93BA-993CA8D41C78}" dt="2026-01-03T13:05:27.862" v="497" actId="20577"/>
        <pc:sldMkLst>
          <pc:docMk/>
          <pc:sldMk cId="0" sldId="258"/>
        </pc:sldMkLst>
      </pc:sldChg>
      <pc:sldChg chg="addSp modSp mod modNotesTx">
        <pc:chgData name="Olivia TAURAND" userId="73cd173347e98645" providerId="LiveId" clId="{EEB6157E-5311-49D6-93BA-993CA8D41C78}" dt="2026-01-03T13:06:31.780" v="501" actId="20577"/>
        <pc:sldMkLst>
          <pc:docMk/>
          <pc:sldMk cId="0" sldId="259"/>
        </pc:sldMkLst>
        <pc:spChg chg="mod">
          <ac:chgData name="Olivia TAURAND" userId="73cd173347e98645" providerId="LiveId" clId="{EEB6157E-5311-49D6-93BA-993CA8D41C78}" dt="2026-01-02T09:52:53.385" v="19" actId="1076"/>
          <ac:spMkLst>
            <pc:docMk/>
            <pc:sldMk cId="0" sldId="259"/>
            <ac:spMk id="4" creationId="{00000000-0000-0000-0000-000000000000}"/>
          </ac:spMkLst>
        </pc:spChg>
        <pc:spChg chg="add mod">
          <ac:chgData name="Olivia TAURAND" userId="73cd173347e98645" providerId="LiveId" clId="{EEB6157E-5311-49D6-93BA-993CA8D41C78}" dt="2026-01-02T09:52:57.767" v="20" actId="1076"/>
          <ac:spMkLst>
            <pc:docMk/>
            <pc:sldMk cId="0" sldId="259"/>
            <ac:spMk id="6" creationId="{83EC747E-04B5-E7D9-5C66-BB534B8126E9}"/>
          </ac:spMkLst>
        </pc:spChg>
        <pc:picChg chg="add mod">
          <ac:chgData name="Olivia TAURAND" userId="73cd173347e98645" providerId="LiveId" clId="{EEB6157E-5311-49D6-93BA-993CA8D41C78}" dt="2026-01-02T09:52:48.715" v="18" actId="1076"/>
          <ac:picMkLst>
            <pc:docMk/>
            <pc:sldMk cId="0" sldId="259"/>
            <ac:picMk id="5" creationId="{0BBE6222-F18B-66E1-23B5-72017BA4C1DB}"/>
          </ac:picMkLst>
        </pc:picChg>
      </pc:sldChg>
      <pc:sldChg chg="addSp delSp modSp mod modNotesTx">
        <pc:chgData name="Olivia TAURAND" userId="73cd173347e98645" providerId="LiveId" clId="{EEB6157E-5311-49D6-93BA-993CA8D41C78}" dt="2026-01-03T13:07:14.002" v="506" actId="20577"/>
        <pc:sldMkLst>
          <pc:docMk/>
          <pc:sldMk cId="0" sldId="260"/>
        </pc:sldMkLst>
        <pc:spChg chg="mod">
          <ac:chgData name="Olivia TAURAND" userId="73cd173347e98645" providerId="LiveId" clId="{EEB6157E-5311-49D6-93BA-993CA8D41C78}" dt="2026-01-02T16:13:40.050" v="41" actId="255"/>
          <ac:spMkLst>
            <pc:docMk/>
            <pc:sldMk cId="0" sldId="260"/>
            <ac:spMk id="2" creationId="{00000000-0000-0000-0000-000000000000}"/>
          </ac:spMkLst>
        </pc:spChg>
        <pc:spChg chg="mod">
          <ac:chgData name="Olivia TAURAND" userId="73cd173347e98645" providerId="LiveId" clId="{EEB6157E-5311-49D6-93BA-993CA8D41C78}" dt="2026-01-02T16:14:36.439" v="44" actId="20577"/>
          <ac:spMkLst>
            <pc:docMk/>
            <pc:sldMk cId="0" sldId="260"/>
            <ac:spMk id="4" creationId="{00000000-0000-0000-0000-000000000000}"/>
          </ac:spMkLst>
        </pc:spChg>
        <pc:spChg chg="add mod">
          <ac:chgData name="Olivia TAURAND" userId="73cd173347e98645" providerId="LiveId" clId="{EEB6157E-5311-49D6-93BA-993CA8D41C78}" dt="2026-01-02T16:15:27.779" v="64" actId="1035"/>
          <ac:spMkLst>
            <pc:docMk/>
            <pc:sldMk cId="0" sldId="260"/>
            <ac:spMk id="9" creationId="{09924F9B-C1AE-FFD8-692D-0889CF5698B0}"/>
          </ac:spMkLst>
        </pc:spChg>
        <pc:picChg chg="add mod">
          <ac:chgData name="Olivia TAURAND" userId="73cd173347e98645" providerId="LiveId" clId="{EEB6157E-5311-49D6-93BA-993CA8D41C78}" dt="2026-01-02T16:15:23.123" v="58" actId="1035"/>
          <ac:picMkLst>
            <pc:docMk/>
            <pc:sldMk cId="0" sldId="260"/>
            <ac:picMk id="8" creationId="{3B3B3014-4795-1E9E-AA09-0A5574BABF35}"/>
          </ac:picMkLst>
        </pc:picChg>
      </pc:sldChg>
      <pc:sldChg chg="addSp delSp modSp mod modNotesTx">
        <pc:chgData name="Olivia TAURAND" userId="73cd173347e98645" providerId="LiveId" clId="{EEB6157E-5311-49D6-93BA-993CA8D41C78}" dt="2026-01-03T13:08:42.606" v="511" actId="20577"/>
        <pc:sldMkLst>
          <pc:docMk/>
          <pc:sldMk cId="0" sldId="261"/>
        </pc:sldMkLst>
        <pc:spChg chg="mod">
          <ac:chgData name="Olivia TAURAND" userId="73cd173347e98645" providerId="LiveId" clId="{EEB6157E-5311-49D6-93BA-993CA8D41C78}" dt="2026-01-02T16:23:22.994" v="75" actId="6549"/>
          <ac:spMkLst>
            <pc:docMk/>
            <pc:sldMk cId="0" sldId="261"/>
            <ac:spMk id="4" creationId="{00000000-0000-0000-0000-000000000000}"/>
          </ac:spMkLst>
        </pc:spChg>
        <pc:spChg chg="add mod">
          <ac:chgData name="Olivia TAURAND" userId="73cd173347e98645" providerId="LiveId" clId="{EEB6157E-5311-49D6-93BA-993CA8D41C78}" dt="2026-01-02T16:30:56.803" v="97" actId="1076"/>
          <ac:spMkLst>
            <pc:docMk/>
            <pc:sldMk cId="0" sldId="261"/>
            <ac:spMk id="7" creationId="{4CBC8CF3-A70F-7F7C-E638-FA7AB1A92166}"/>
          </ac:spMkLst>
        </pc:spChg>
        <pc:picChg chg="add mod">
          <ac:chgData name="Olivia TAURAND" userId="73cd173347e98645" providerId="LiveId" clId="{EEB6157E-5311-49D6-93BA-993CA8D41C78}" dt="2026-01-02T16:33:37.486" v="114" actId="1036"/>
          <ac:picMkLst>
            <pc:docMk/>
            <pc:sldMk cId="0" sldId="261"/>
            <ac:picMk id="9" creationId="{03570745-D35C-F778-1973-0A5FDFFB184F}"/>
          </ac:picMkLst>
        </pc:picChg>
      </pc:sldChg>
      <pc:sldChg chg="addSp delSp modSp mod modNotesTx">
        <pc:chgData name="Olivia TAURAND" userId="73cd173347e98645" providerId="LiveId" clId="{EEB6157E-5311-49D6-93BA-993CA8D41C78}" dt="2026-01-03T13:09:33.371" v="514" actId="20577"/>
        <pc:sldMkLst>
          <pc:docMk/>
          <pc:sldMk cId="0" sldId="262"/>
        </pc:sldMkLst>
        <pc:spChg chg="mod">
          <ac:chgData name="Olivia TAURAND" userId="73cd173347e98645" providerId="LiveId" clId="{EEB6157E-5311-49D6-93BA-993CA8D41C78}" dt="2026-01-02T17:01:05.108" v="148" actId="255"/>
          <ac:spMkLst>
            <pc:docMk/>
            <pc:sldMk cId="0" sldId="262"/>
            <ac:spMk id="4" creationId="{00000000-0000-0000-0000-000000000000}"/>
          </ac:spMkLst>
        </pc:spChg>
        <pc:picChg chg="add mod">
          <ac:chgData name="Olivia TAURAND" userId="73cd173347e98645" providerId="LiveId" clId="{EEB6157E-5311-49D6-93BA-993CA8D41C78}" dt="2026-01-02T17:01:10.095" v="149" actId="14100"/>
          <ac:picMkLst>
            <pc:docMk/>
            <pc:sldMk cId="0" sldId="262"/>
            <ac:picMk id="8" creationId="{EAFEF949-21B5-BD32-5D93-1E50F0B8EBCB}"/>
          </ac:picMkLst>
        </pc:picChg>
      </pc:sldChg>
      <pc:sldChg chg="addSp modSp mod modNotesTx">
        <pc:chgData name="Olivia TAURAND" userId="73cd173347e98645" providerId="LiveId" clId="{EEB6157E-5311-49D6-93BA-993CA8D41C78}" dt="2026-01-03T13:10:44.481" v="520" actId="20577"/>
        <pc:sldMkLst>
          <pc:docMk/>
          <pc:sldMk cId="0" sldId="263"/>
        </pc:sldMkLst>
        <pc:spChg chg="mod">
          <ac:chgData name="Olivia TAURAND" userId="73cd173347e98645" providerId="LiveId" clId="{EEB6157E-5311-49D6-93BA-993CA8D41C78}" dt="2026-01-02T17:05:04.819" v="227" actId="6549"/>
          <ac:spMkLst>
            <pc:docMk/>
            <pc:sldMk cId="0" sldId="263"/>
            <ac:spMk id="4" creationId="{00000000-0000-0000-0000-000000000000}"/>
          </ac:spMkLst>
        </pc:spChg>
        <pc:picChg chg="add mod">
          <ac:chgData name="Olivia TAURAND" userId="73cd173347e98645" providerId="LiveId" clId="{EEB6157E-5311-49D6-93BA-993CA8D41C78}" dt="2026-01-02T17:02:00.352" v="158" actId="1076"/>
          <ac:picMkLst>
            <pc:docMk/>
            <pc:sldMk cId="0" sldId="263"/>
            <ac:picMk id="6" creationId="{ED8099C4-98E4-5D6F-4F95-D54816D61610}"/>
          </ac:picMkLst>
        </pc:picChg>
      </pc:sldChg>
      <pc:sldChg chg="addSp delSp modSp mod modNotesTx">
        <pc:chgData name="Olivia TAURAND" userId="73cd173347e98645" providerId="LiveId" clId="{EEB6157E-5311-49D6-93BA-993CA8D41C78}" dt="2026-01-05T12:56:20.468" v="646" actId="20577"/>
        <pc:sldMkLst>
          <pc:docMk/>
          <pc:sldMk cId="0" sldId="264"/>
        </pc:sldMkLst>
        <pc:spChg chg="mod">
          <ac:chgData name="Olivia TAURAND" userId="73cd173347e98645" providerId="LiveId" clId="{EEB6157E-5311-49D6-93BA-993CA8D41C78}" dt="2026-01-02T17:16:01.881" v="267" actId="790"/>
          <ac:spMkLst>
            <pc:docMk/>
            <pc:sldMk cId="0" sldId="264"/>
            <ac:spMk id="4" creationId="{00000000-0000-0000-0000-000000000000}"/>
          </ac:spMkLst>
        </pc:spChg>
        <pc:picChg chg="add mod">
          <ac:chgData name="Olivia TAURAND" userId="73cd173347e98645" providerId="LiveId" clId="{EEB6157E-5311-49D6-93BA-993CA8D41C78}" dt="2026-01-02T17:16:31.272" v="269" actId="14100"/>
          <ac:picMkLst>
            <pc:docMk/>
            <pc:sldMk cId="0" sldId="264"/>
            <ac:picMk id="6" creationId="{04E5C00D-E5BC-E0AF-C5DE-0D21E1B27D44}"/>
          </ac:picMkLst>
        </pc:picChg>
      </pc:sldChg>
      <pc:sldChg chg="addSp delSp modSp mod modNotesTx">
        <pc:chgData name="Olivia TAURAND" userId="73cd173347e98645" providerId="LiveId" clId="{EEB6157E-5311-49D6-93BA-993CA8D41C78}" dt="2026-01-03T13:12:27.524" v="530" actId="20577"/>
        <pc:sldMkLst>
          <pc:docMk/>
          <pc:sldMk cId="0" sldId="265"/>
        </pc:sldMkLst>
        <pc:spChg chg="add mod">
          <ac:chgData name="Olivia TAURAND" userId="73cd173347e98645" providerId="LiveId" clId="{EEB6157E-5311-49D6-93BA-993CA8D41C78}" dt="2026-01-02T17:34:28.648" v="297" actId="20577"/>
          <ac:spMkLst>
            <pc:docMk/>
            <pc:sldMk cId="0" sldId="265"/>
            <ac:spMk id="7" creationId="{839B83F0-78DB-573D-063A-BCBC6A410C53}"/>
          </ac:spMkLst>
        </pc:spChg>
        <pc:picChg chg="add mod">
          <ac:chgData name="Olivia TAURAND" userId="73cd173347e98645" providerId="LiveId" clId="{EEB6157E-5311-49D6-93BA-993CA8D41C78}" dt="2026-01-02T17:23:24.835" v="282" actId="14100"/>
          <ac:picMkLst>
            <pc:docMk/>
            <pc:sldMk cId="0" sldId="265"/>
            <ac:picMk id="6" creationId="{1E9187A4-52F9-0574-867E-802DE4522215}"/>
          </ac:picMkLst>
        </pc:picChg>
      </pc:sldChg>
      <pc:sldChg chg="modSp mod modNotesTx">
        <pc:chgData name="Olivia TAURAND" userId="73cd173347e98645" providerId="LiveId" clId="{EEB6157E-5311-49D6-93BA-993CA8D41C78}" dt="2026-01-03T13:13:13.059" v="533" actId="20577"/>
        <pc:sldMkLst>
          <pc:docMk/>
          <pc:sldMk cId="0" sldId="266"/>
        </pc:sldMkLst>
        <pc:spChg chg="mod">
          <ac:chgData name="Olivia TAURAND" userId="73cd173347e98645" providerId="LiveId" clId="{EEB6157E-5311-49D6-93BA-993CA8D41C78}" dt="2026-01-02T17:48:54.241" v="304" actId="1076"/>
          <ac:spMkLst>
            <pc:docMk/>
            <pc:sldMk cId="0" sldId="266"/>
            <ac:spMk id="4" creationId="{00000000-0000-0000-0000-000000000000}"/>
          </ac:spMkLst>
        </pc:spChg>
      </pc:sldChg>
      <pc:sldChg chg="modSp mod modNotesTx">
        <pc:chgData name="Olivia TAURAND" userId="73cd173347e98645" providerId="LiveId" clId="{EEB6157E-5311-49D6-93BA-993CA8D41C78}" dt="2026-01-05T12:56:42.997" v="647" actId="20577"/>
        <pc:sldMkLst>
          <pc:docMk/>
          <pc:sldMk cId="0" sldId="267"/>
        </pc:sldMkLst>
        <pc:spChg chg="mod">
          <ac:chgData name="Olivia TAURAND" userId="73cd173347e98645" providerId="LiveId" clId="{EEB6157E-5311-49D6-93BA-993CA8D41C78}" dt="2026-01-02T17:49:33.279" v="345" actId="20577"/>
          <ac:spMkLst>
            <pc:docMk/>
            <pc:sldMk cId="0" sldId="267"/>
            <ac:spMk id="4" creationId="{00000000-0000-0000-0000-000000000000}"/>
          </ac:spMkLst>
        </pc:spChg>
      </pc:sldChg>
      <pc:sldChg chg="modSp mod modNotesTx">
        <pc:chgData name="Olivia TAURAND" userId="73cd173347e98645" providerId="LiveId" clId="{EEB6157E-5311-49D6-93BA-993CA8D41C78}" dt="2026-01-03T13:15:30.726" v="550" actId="20577"/>
        <pc:sldMkLst>
          <pc:docMk/>
          <pc:sldMk cId="0" sldId="268"/>
        </pc:sldMkLst>
        <pc:spChg chg="mod">
          <ac:chgData name="Olivia TAURAND" userId="73cd173347e98645" providerId="LiveId" clId="{EEB6157E-5311-49D6-93BA-993CA8D41C78}" dt="2026-01-02T17:59:32.189" v="371" actId="20577"/>
          <ac:spMkLst>
            <pc:docMk/>
            <pc:sldMk cId="0" sldId="268"/>
            <ac:spMk id="4" creationId="{00000000-0000-0000-0000-000000000000}"/>
          </ac:spMkLst>
        </pc:spChg>
      </pc:sldChg>
      <pc:sldChg chg="modSp mod modNotesTx">
        <pc:chgData name="Olivia TAURAND" userId="73cd173347e98645" providerId="LiveId" clId="{EEB6157E-5311-49D6-93BA-993CA8D41C78}" dt="2026-01-03T17:29:12.380" v="617" actId="20577"/>
        <pc:sldMkLst>
          <pc:docMk/>
          <pc:sldMk cId="0" sldId="269"/>
        </pc:sldMkLst>
        <pc:spChg chg="mod">
          <ac:chgData name="Olivia TAURAND" userId="73cd173347e98645" providerId="LiveId" clId="{EEB6157E-5311-49D6-93BA-993CA8D41C78}" dt="2026-01-02T18:15:43.308" v="445" actId="948"/>
          <ac:spMkLst>
            <pc:docMk/>
            <pc:sldMk cId="0" sldId="269"/>
            <ac:spMk id="4" creationId="{00000000-0000-0000-0000-000000000000}"/>
          </ac:spMkLst>
        </pc:spChg>
      </pc:sldChg>
      <pc:sldChg chg="modSp mod modNotesTx">
        <pc:chgData name="Olivia TAURAND" userId="73cd173347e98645" providerId="LiveId" clId="{EEB6157E-5311-49D6-93BA-993CA8D41C78}" dt="2026-01-03T17:30:28.945" v="627" actId="20577"/>
        <pc:sldMkLst>
          <pc:docMk/>
          <pc:sldMk cId="0" sldId="270"/>
        </pc:sldMkLst>
        <pc:spChg chg="mod">
          <ac:chgData name="Olivia TAURAND" userId="73cd173347e98645" providerId="LiveId" clId="{EEB6157E-5311-49D6-93BA-993CA8D41C78}" dt="2026-01-02T18:26:09.013" v="455" actId="6549"/>
          <ac:spMkLst>
            <pc:docMk/>
            <pc:sldMk cId="0" sldId="270"/>
            <ac:spMk id="4" creationId="{00000000-0000-0000-0000-000000000000}"/>
          </ac:spMkLst>
        </pc:spChg>
      </pc:sldChg>
      <pc:sldChg chg="modSp mod modNotesTx">
        <pc:chgData name="Olivia TAURAND" userId="73cd173347e98645" providerId="LiveId" clId="{EEB6157E-5311-49D6-93BA-993CA8D41C78}" dt="2026-01-03T17:30:54.265" v="631" actId="6549"/>
        <pc:sldMkLst>
          <pc:docMk/>
          <pc:sldMk cId="0" sldId="271"/>
        </pc:sldMkLst>
        <pc:spChg chg="mod">
          <ac:chgData name="Olivia TAURAND" userId="73cd173347e98645" providerId="LiveId" clId="{EEB6157E-5311-49D6-93BA-993CA8D41C78}" dt="2026-01-02T18:35:41.161" v="461" actId="255"/>
          <ac:spMkLst>
            <pc:docMk/>
            <pc:sldMk cId="0" sldId="271"/>
            <ac:spMk id="4" creationId="{00000000-0000-0000-0000-000000000000}"/>
          </ac:spMkLst>
        </pc:spChg>
      </pc:sldChg>
      <pc:sldChg chg="modSp mod modNotesTx">
        <pc:chgData name="Olivia TAURAND" userId="73cd173347e98645" providerId="LiveId" clId="{EEB6157E-5311-49D6-93BA-993CA8D41C78}" dt="2026-01-03T17:31:13.264" v="634" actId="20577"/>
        <pc:sldMkLst>
          <pc:docMk/>
          <pc:sldMk cId="0" sldId="273"/>
        </pc:sldMkLst>
        <pc:spChg chg="mod">
          <ac:chgData name="Olivia TAURAND" userId="73cd173347e98645" providerId="LiveId" clId="{EEB6157E-5311-49D6-93BA-993CA8D41C78}" dt="2026-01-02T18:36:32.943" v="469" actId="1076"/>
          <ac:spMkLst>
            <pc:docMk/>
            <pc:sldMk cId="0" sldId="273"/>
            <ac:spMk id="4" creationId="{00000000-0000-0000-0000-000000000000}"/>
          </ac:spMkLst>
        </pc:spChg>
      </pc:sldChg>
      <pc:sldChg chg="delSp modSp mod">
        <pc:chgData name="Olivia TAURAND" userId="73cd173347e98645" providerId="LiveId" clId="{EEB6157E-5311-49D6-93BA-993CA8D41C78}" dt="2026-01-02T18:37:02.130" v="472"/>
        <pc:sldMkLst>
          <pc:docMk/>
          <pc:sldMk cId="0"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123FEE-9C0F-4958-B0CE-05502CA97FCB}" type="datetimeFigureOut">
              <a:rPr lang="fr-FR" smtClean="0"/>
              <a:t>05/01/2026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BE8AFE-6A51-4C74-A089-8C6BAB899B6C}" type="slidenum">
              <a:rPr lang="fr-FR" smtClean="0"/>
              <a:t>‹N°›</a:t>
            </a:fld>
            <a:endParaRPr lang="fr-FR"/>
          </a:p>
        </p:txBody>
      </p:sp>
    </p:spTree>
    <p:extLst>
      <p:ext uri="{BB962C8B-B14F-4D97-AF65-F5344CB8AC3E}">
        <p14:creationId xmlns:p14="http://schemas.microsoft.com/office/powerpoint/2010/main" val="332820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toutes et tous. </a:t>
            </a:r>
          </a:p>
          <a:p>
            <a:r>
              <a:rPr lang="fr-FR" dirty="0"/>
              <a:t>Merci d'être présents aujourd'hui pour cette présentation sur notre stratégie d'export international. Je suis ravie de partager avec vous les résultats de mon analyse qui, je l'espère, va nous aider à prendre des décisions éclairées pour l'avenir de La Poule qui Chante à l'international.</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a:t>
            </a:fld>
            <a:endParaRPr lang="fr-FR"/>
          </a:p>
        </p:txBody>
      </p:sp>
    </p:spTree>
    <p:extLst>
      <p:ext uri="{BB962C8B-B14F-4D97-AF65-F5344CB8AC3E}">
        <p14:creationId xmlns:p14="http://schemas.microsoft.com/office/powerpoint/2010/main" val="144856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Alors, commençons par poser le contexte. </a:t>
            </a:r>
          </a:p>
          <a:p>
            <a:r>
              <a:rPr lang="fr-FR" dirty="0"/>
              <a:t>Patrick nous a confié un défi de taille : nous avons 168 pays potentiels à analyser pour notre expansion internationale. </a:t>
            </a:r>
          </a:p>
          <a:p>
            <a:endParaRPr lang="fr-FR" dirty="0"/>
          </a:p>
          <a:p>
            <a:r>
              <a:rPr lang="fr-FR" dirty="0"/>
              <a:t>La question centrale est simple mais cruciale : quels marchés devons-nous cibler en priorité ?</a:t>
            </a:r>
          </a:p>
          <a:p>
            <a:endParaRPr lang="fr-FR" dirty="0"/>
          </a:p>
          <a:p>
            <a:r>
              <a:rPr lang="fr-FR" dirty="0"/>
              <a:t>Face à cette complexité, nous ne pouvions pas nous permettre d'agir au hasard. </a:t>
            </a:r>
          </a:p>
          <a:p>
            <a:r>
              <a:rPr lang="fr-FR" dirty="0"/>
              <a:t>Nous avons donc adopté une approche data-</a:t>
            </a:r>
            <a:r>
              <a:rPr lang="fr-FR" dirty="0" err="1"/>
              <a:t>driven</a:t>
            </a:r>
            <a:r>
              <a:rPr lang="fr-FR" dirty="0"/>
              <a:t>, c'est-à-dire une approche basée sur les données, en analysant 12 variables clés pour chaque pays. </a:t>
            </a:r>
          </a:p>
          <a:p>
            <a:r>
              <a:rPr lang="fr-FR" dirty="0"/>
              <a:t>Ces variables couvrent la production, les échanges commerciaux, la consommation de viande et de volaille, mais aussi des indicateurs économiques et politiques. L'objectif final est d'obtenir une segmentation pertinente qui nous permette de prioriser nos efforts commerciaux.</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2</a:t>
            </a:fld>
            <a:endParaRPr lang="fr-FR"/>
          </a:p>
        </p:txBody>
      </p:sp>
    </p:spTree>
    <p:extLst>
      <p:ext uri="{BB962C8B-B14F-4D97-AF65-F5344CB8AC3E}">
        <p14:creationId xmlns:p14="http://schemas.microsoft.com/office/powerpoint/2010/main" val="1579062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répondre à cette question, j'ai mis en place une démarche analytique en trois étapes.</a:t>
            </a:r>
          </a:p>
          <a:p>
            <a:endParaRPr lang="fr-FR" dirty="0"/>
          </a:p>
          <a:p>
            <a:r>
              <a:rPr lang="fr-FR" dirty="0"/>
              <a:t>Premièrement, j'ai utilisé l'ACP, c'est-à-dire l'Analyse en Composantes Principales. </a:t>
            </a:r>
          </a:p>
          <a:p>
            <a:r>
              <a:rPr lang="fr-FR" dirty="0"/>
              <a:t>Cette technique statistique nous permet de réduire la complexité de nos 12 variables initiales en les résumant en 2 ou 3 dimensions principales. </a:t>
            </a:r>
          </a:p>
          <a:p>
            <a:r>
              <a:rPr lang="fr-FR" dirty="0"/>
              <a:t>En gros, c'est comme si on cherchait les meilleurs angles de vue pour observer nos données et en extraire l'essentiel.</a:t>
            </a:r>
          </a:p>
          <a:p>
            <a:endParaRPr lang="fr-FR" dirty="0"/>
          </a:p>
          <a:p>
            <a:r>
              <a:rPr lang="fr-FR" dirty="0"/>
              <a:t>Deuxièmement, j'ai réalisé une CAH, une Classification Ascendante Hiérarchique. Cette méthode nous aide à identifier la structure naturelle qui émerge de nos données. Elle nous montre comment les pays se regroupent spontanément en fonction de leurs similarités.</a:t>
            </a:r>
          </a:p>
          <a:p>
            <a:r>
              <a:rPr lang="fr-FR" dirty="0"/>
              <a:t>Enfin, troisièmement, j'ai appliqué un algorithme de clustering appelé K-</a:t>
            </a:r>
            <a:r>
              <a:rPr lang="fr-FR" dirty="0" err="1"/>
              <a:t>means</a:t>
            </a:r>
            <a:r>
              <a:rPr lang="fr-FR" dirty="0"/>
              <a:t>. Cette technique nous a permis de segmenter nos 168 pays en 4 groupes homogènes, qui partagent des caractéristiques communes. Ces 4 groupes vont nous servir de base pour définir nos stratégies d'entrée sur les marchés.</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3</a:t>
            </a:fld>
            <a:endParaRPr lang="fr-FR"/>
          </a:p>
        </p:txBody>
      </p:sp>
    </p:spTree>
    <p:extLst>
      <p:ext uri="{BB962C8B-B14F-4D97-AF65-F5344CB8AC3E}">
        <p14:creationId xmlns:p14="http://schemas.microsoft.com/office/powerpoint/2010/main" val="3419941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Regardons maintenant les résultats de notre ACP. </a:t>
            </a:r>
          </a:p>
          <a:p>
            <a:r>
              <a:rPr lang="fr-FR" dirty="0"/>
              <a:t>À gauche, vous voyez ce qu'on appelle l'éboulis des valeurs propres. </a:t>
            </a:r>
          </a:p>
          <a:p>
            <a:r>
              <a:rPr lang="fr-FR" dirty="0"/>
              <a:t>Ce graphique nous aide à déterminer combien de dimensions nous devons conserver.</a:t>
            </a:r>
          </a:p>
          <a:p>
            <a:r>
              <a:rPr lang="fr-FR" dirty="0"/>
              <a:t>La première composante, que j'appellerai CP1, capture 37% de la variance totale de nos données. La deuxième composante, CP2, en capture 21,2%. </a:t>
            </a:r>
          </a:p>
          <a:p>
            <a:r>
              <a:rPr lang="fr-FR" dirty="0"/>
              <a:t>Ensemble, ces deux composantes résument 58,2% de l'information contenue dans nos 12 variables initiales.</a:t>
            </a:r>
          </a:p>
          <a:p>
            <a:endParaRPr lang="fr-FR" dirty="0"/>
          </a:p>
          <a:p>
            <a:r>
              <a:rPr lang="fr-FR" dirty="0"/>
              <a:t>Je sais que certaines règles statistiques, comme le critère de Kaiser ou la règle des 80%, suggèrent de conserver 4 ou 5 composantes. Cependant, pour une analyse exploratoire comme la nôtre et surtout pour pouvoir visualiser nos résultats de manière claire et lisible, j'ai fait le choix de me concentrer sur ces deux premières dimensions. Cela nous permet d'avoir une représentation en 2D que tout le monde peut comprendre et interpréter facilement.</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4</a:t>
            </a:fld>
            <a:endParaRPr lang="fr-FR"/>
          </a:p>
        </p:txBody>
      </p:sp>
    </p:spTree>
    <p:extLst>
      <p:ext uri="{BB962C8B-B14F-4D97-AF65-F5344CB8AC3E}">
        <p14:creationId xmlns:p14="http://schemas.microsoft.com/office/powerpoint/2010/main" val="640479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Alors, que représentent concrètement ces deux dimensions ?</a:t>
            </a:r>
          </a:p>
          <a:p>
            <a:endParaRPr lang="fr-FR" dirty="0"/>
          </a:p>
          <a:p>
            <a:r>
              <a:rPr lang="fr-FR" dirty="0"/>
              <a:t>Commençons par CP1, notre première composante qui explique 37% de la variance. </a:t>
            </a:r>
          </a:p>
          <a:p>
            <a:r>
              <a:rPr lang="fr-FR" dirty="0"/>
              <a:t>J'ai choisi de l'appeler "Intensité production et échanges". </a:t>
            </a:r>
          </a:p>
          <a:p>
            <a:r>
              <a:rPr lang="fr-FR" dirty="0"/>
              <a:t>Cette dimension capte essentiellement la taille et l'activité du marché : la production de viande et de volaille, les volumes d'importations et d'exportations, et aussi la population du pays. </a:t>
            </a:r>
          </a:p>
          <a:p>
            <a:r>
              <a:rPr lang="fr-FR" dirty="0"/>
              <a:t>Plus un pays se trouve à droite sur cette dimension, plus il est un acteur majeur en termes de volumes de production et d'échanges commerciaux.</a:t>
            </a:r>
          </a:p>
          <a:p>
            <a:endParaRPr lang="fr-FR" dirty="0"/>
          </a:p>
          <a:p>
            <a:r>
              <a:rPr lang="fr-FR" dirty="0"/>
              <a:t>La deuxième composante, CP2, qui représente 21% de la variance, j'ai choisi de la nommer "Développement et protéines par personne". Elle reflète le niveau de développement économique du pays à travers le PIB par habitant en prix constants, la stabilité politique, et aussi les protéines disponibles par personne par jour, qu'il s'agisse de viande ou de volaille. Plus un pays est positionné en haut sur cette dimension, plus il est développé et stable.</a:t>
            </a:r>
          </a:p>
          <a:p>
            <a:r>
              <a:rPr lang="fr-FR" dirty="0"/>
              <a:t>Sur le cercle de corrélation que vous voyez à droite, les flèches longues indiquent les variables bien représentées, et les flèches qui pointent dans des directions proches indiquent des variables corrélées entre elles. C'est une façon visuelle de voir quelles variables jouent ensemble.</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5</a:t>
            </a:fld>
            <a:endParaRPr lang="fr-FR"/>
          </a:p>
        </p:txBody>
      </p:sp>
    </p:spTree>
    <p:extLst>
      <p:ext uri="{BB962C8B-B14F-4D97-AF65-F5344CB8AC3E}">
        <p14:creationId xmlns:p14="http://schemas.microsoft.com/office/powerpoint/2010/main" val="1661520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Maintenant, projetons nos 168 pays sur ce plan factoriel formé par CP1 et CP2, sans encore appliquer de clustering. </a:t>
            </a:r>
          </a:p>
          <a:p>
            <a:endParaRPr lang="fr-FR" dirty="0"/>
          </a:p>
          <a:p>
            <a:r>
              <a:rPr lang="fr-FR" dirty="0"/>
              <a:t>Ce graphique est fascinant parce qu'on voit déjà, à l'œil nu, une structure naturelle qui émerge spontanément.</a:t>
            </a:r>
          </a:p>
          <a:p>
            <a:endParaRPr lang="fr-FR" dirty="0"/>
          </a:p>
          <a:p>
            <a:r>
              <a:rPr lang="fr-FR" dirty="0"/>
              <a:t>À l'extrême gauche, on observe un nuage dense de pays en développement, avec des niveaux de production et de consommation relativement faibles. </a:t>
            </a:r>
          </a:p>
          <a:p>
            <a:r>
              <a:rPr lang="fr-FR" dirty="0"/>
              <a:t>Au centre, vers le haut, on trouve des pays développés qui sont principalement importateurs. </a:t>
            </a:r>
          </a:p>
          <a:p>
            <a:r>
              <a:rPr lang="fr-FR" dirty="0"/>
              <a:t>À droite, on voit des grands producteurs et exportateurs. Et puis il y a quelques </a:t>
            </a:r>
            <a:r>
              <a:rPr lang="fr-FR" dirty="0" err="1"/>
              <a:t>outliers</a:t>
            </a:r>
            <a:r>
              <a:rPr lang="fr-FR" dirty="0"/>
              <a:t>, des pays vraiment à part comme la Chine, les États-Unis et le Brésil, qui se détachent nettement du reste.</a:t>
            </a:r>
          </a:p>
          <a:p>
            <a:r>
              <a:rPr lang="fr-FR" dirty="0"/>
              <a:t>Cette observation visuelle nous donne déjà une intuition : il semble y avoir entre 4 et 5 groupes distincts. C'est encourageant parce que cela signifie que nos données ont une vraie structure, et que notre clustering va pouvoir en tirer parti.</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6</a:t>
            </a:fld>
            <a:endParaRPr lang="fr-FR"/>
          </a:p>
        </p:txBody>
      </p:sp>
    </p:spTree>
    <p:extLst>
      <p:ext uri="{BB962C8B-B14F-4D97-AF65-F5344CB8AC3E}">
        <p14:creationId xmlns:p14="http://schemas.microsoft.com/office/powerpoint/2010/main" val="2345657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confirmer cette intuition, j'ai réalisé une Classification Ascendante Hiérarchique avec la méthode de Ward. </a:t>
            </a:r>
          </a:p>
          <a:p>
            <a:r>
              <a:rPr lang="fr-FR" dirty="0"/>
              <a:t>Le dendrogramme que vous voyez ici représente l'arbre hiérarchique des regroupements successifs de pays.</a:t>
            </a:r>
          </a:p>
          <a:p>
            <a:endParaRPr lang="fr-FR" dirty="0"/>
          </a:p>
          <a:p>
            <a:r>
              <a:rPr lang="fr-FR" dirty="0"/>
              <a:t>J'ai testé trois seuils de découpe différents. Avec K égal 3, les groupes étaient trop agrégés, c'est-à-dire qu'ils mélangeaient des pays trop différents. Avec K égal 5 ou 6, on tombait dans la sur-segmentation, avec des groupes trop petits et difficiles à exploiter stratégiquement. Le compromis optimal s'est avéré être K égal 4 clusters.</a:t>
            </a:r>
          </a:p>
          <a:p>
            <a:endParaRPr lang="fr-FR" dirty="0"/>
          </a:p>
          <a:p>
            <a:r>
              <a:rPr lang="fr-FR" dirty="0"/>
              <a:t>Ce qu'il faut retenir ici, c'est que les grands sauts verticaux dans le dendrogramme indiquent des fusions de groupes très différents. Plus le saut est important, plus les groupes fusionnés sont distincts. Et on voit clairement que couper à 4 groupes respecte bien les discontinuités naturelles de nos données.</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7</a:t>
            </a:fld>
            <a:endParaRPr lang="fr-FR"/>
          </a:p>
        </p:txBody>
      </p:sp>
    </p:spTree>
    <p:extLst>
      <p:ext uri="{BB962C8B-B14F-4D97-AF65-F5344CB8AC3E}">
        <p14:creationId xmlns:p14="http://schemas.microsoft.com/office/powerpoint/2010/main" val="271361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valider ce choix de 4 clusters, j'ai utilisé une autre méthode appelée K-</a:t>
            </a:r>
            <a:r>
              <a:rPr lang="fr-FR" dirty="0" err="1"/>
              <a:t>means</a:t>
            </a:r>
            <a:r>
              <a:rPr lang="fr-FR" dirty="0"/>
              <a:t> et j'ai appliqué la méthode du coude. </a:t>
            </a:r>
          </a:p>
          <a:p>
            <a:r>
              <a:rPr lang="fr-FR" dirty="0"/>
              <a:t>Cette technique consiste à mesurer l'inertie, c'est-à-dire la dispersion des points au sein de chaque cluster, pour différentes valeurs de K.</a:t>
            </a:r>
          </a:p>
          <a:p>
            <a:endParaRPr lang="fr-FR" dirty="0"/>
          </a:p>
          <a:p>
            <a:r>
              <a:rPr lang="fr-FR" dirty="0"/>
              <a:t>Regardez la courbe : quand on passe de 2 à 3 clusters, l'inertie diminue fortement. </a:t>
            </a:r>
          </a:p>
          <a:p>
            <a:r>
              <a:rPr lang="fr-FR" dirty="0"/>
              <a:t>Quand on passe de 3 à 4, elle diminue encore significativement. </a:t>
            </a:r>
          </a:p>
          <a:p>
            <a:r>
              <a:rPr lang="fr-FR" dirty="0"/>
              <a:t>Mais après 4, la diminution devient beaucoup plus faible. </a:t>
            </a:r>
          </a:p>
          <a:p>
            <a:r>
              <a:rPr lang="fr-FR" dirty="0"/>
              <a:t>C'est ce qu'on appelle le coude de la courbe, et c'est exactement à K égal 4.</a:t>
            </a:r>
          </a:p>
          <a:p>
            <a:endParaRPr lang="fr-FR" dirty="0"/>
          </a:p>
          <a:p>
            <a:r>
              <a:rPr lang="fr-FR" dirty="0"/>
              <a:t>Ce résultat est cohérent avec notre analyse CAH précédente. Nous avons donc une convergence de trois méthodes différentes : l'observation visuelle, la CAH et le K-</a:t>
            </a:r>
            <a:r>
              <a:rPr lang="fr-FR" dirty="0" err="1"/>
              <a:t>means</a:t>
            </a:r>
            <a:r>
              <a:rPr lang="fr-FR" dirty="0"/>
              <a:t>, qui toutes nous pointent vers une segmentation en 4 clusters. C'est ce qu'on appelle une triangulation méthodologique, et cela nous donne une grande confiance dans la robustesse de notre choix.</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8</a:t>
            </a:fld>
            <a:endParaRPr lang="fr-FR"/>
          </a:p>
        </p:txBody>
      </p:sp>
    </p:spTree>
    <p:extLst>
      <p:ext uri="{BB962C8B-B14F-4D97-AF65-F5344CB8AC3E}">
        <p14:creationId xmlns:p14="http://schemas.microsoft.com/office/powerpoint/2010/main" val="15166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donc notre segmentation finale. </a:t>
            </a:r>
          </a:p>
          <a:p>
            <a:r>
              <a:rPr lang="fr-FR" dirty="0"/>
              <a:t>Nos 168 pays sont répartis en 4 clusters distincts, que vous voyez ici en couleurs différentes sur la projection du plan factoriel.</a:t>
            </a:r>
          </a:p>
          <a:p>
            <a:endParaRPr lang="fr-FR" dirty="0"/>
          </a:p>
          <a:p>
            <a:r>
              <a:rPr lang="fr-FR" dirty="0"/>
              <a:t>Le cluster 0, en rouge, regroupe 86 pays et se situe principalement à gauche et en bas du graphique. </a:t>
            </a:r>
          </a:p>
          <a:p>
            <a:r>
              <a:rPr lang="fr-FR" dirty="0"/>
              <a:t>Le cluster 1, en turquoise, ne contient que 3 pays, positionnés à l'extrême droite. </a:t>
            </a:r>
          </a:p>
          <a:p>
            <a:r>
              <a:rPr lang="fr-FR" dirty="0"/>
              <a:t>Le cluster 2, en bleu clair, rassemble 73 pays au centre et en haut. </a:t>
            </a:r>
          </a:p>
          <a:p>
            <a:r>
              <a:rPr lang="fr-FR" dirty="0"/>
              <a:t>Enfin, le cluster 3, en orange clair, compte 6 pays dans la partie haute du graphique.</a:t>
            </a:r>
          </a:p>
          <a:p>
            <a:endParaRPr lang="fr-FR" dirty="0"/>
          </a:p>
          <a:p>
            <a:r>
              <a:rPr lang="fr-FR" dirty="0"/>
              <a:t>Maintenant, la vraie question est : que représentent ces groupes et comment devons-nous les interpréter pour notre stratégie ?</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9</a:t>
            </a:fld>
            <a:endParaRPr lang="fr-FR"/>
          </a:p>
        </p:txBody>
      </p:sp>
    </p:spTree>
    <p:extLst>
      <p:ext uri="{BB962C8B-B14F-4D97-AF65-F5344CB8AC3E}">
        <p14:creationId xmlns:p14="http://schemas.microsoft.com/office/powerpoint/2010/main" val="3679815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répondre à cette question, j'ai créé une </a:t>
            </a:r>
            <a:r>
              <a:rPr lang="fr-FR" dirty="0" err="1"/>
              <a:t>heatmap</a:t>
            </a:r>
            <a:r>
              <a:rPr lang="fr-FR" dirty="0"/>
              <a:t> qui visualise les profils moyens de chaque cluster. </a:t>
            </a:r>
          </a:p>
          <a:p>
            <a:endParaRPr lang="fr-FR" dirty="0"/>
          </a:p>
          <a:p>
            <a:r>
              <a:rPr lang="fr-FR" dirty="0"/>
              <a:t>Les valeurs sont standardisées, ce qui signifie que le vert indique des valeurs au-dessus de la moyenne mondiale, et le rouge des valeurs en dessous.</a:t>
            </a:r>
          </a:p>
          <a:p>
            <a:endParaRPr lang="fr-FR" dirty="0"/>
          </a:p>
          <a:p>
            <a:r>
              <a:rPr lang="fr-FR" dirty="0"/>
              <a:t>Le cluster 1, c'est le groupe des superpuissances. On voit que tout est vert foncé pour la production et les échanges de viande et de volaille. Ce sont des géants en termes de volumes.</a:t>
            </a:r>
          </a:p>
          <a:p>
            <a:r>
              <a:rPr lang="fr-FR" dirty="0"/>
              <a:t>Le cluster 0, à l'inverse, affiche du rouge sur presque toutes les lignes. Ce sont des pays avec des niveaux globalement faibles de production, d'échanges et de consommation de protéines animales.</a:t>
            </a:r>
          </a:p>
          <a:p>
            <a:r>
              <a:rPr lang="fr-FR" dirty="0"/>
              <a:t>Le cluster 2 se caractérise par un profil développé et stable. On voit du vert intense sur le PIB par habitant et la stabilité politique. Ce sont des marchés riches et sûrs.</a:t>
            </a:r>
          </a:p>
          <a:p>
            <a:r>
              <a:rPr lang="fr-FR" dirty="0"/>
              <a:t>Enfin, le cluster 3 montre un profil d'importateur. Les importations de volaille sont très élevées en vert foncé, et ces pays ont également un bon niveau de richesse. Ce sont des marchés qui achètent beaucoup à l'international.</a:t>
            </a:r>
          </a:p>
          <a:p>
            <a:endParaRPr lang="fr-FR" dirty="0"/>
          </a:p>
          <a:p>
            <a:r>
              <a:rPr lang="fr-FR" dirty="0"/>
              <a:t>Cette lecture visuelle nous aide à donner du sens à nos clusters et à les nommer de manière compréhensible pour notre stratégie commerciale.</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10</a:t>
            </a:fld>
            <a:endParaRPr lang="fr-FR"/>
          </a:p>
        </p:txBody>
      </p:sp>
    </p:spTree>
    <p:extLst>
      <p:ext uri="{BB962C8B-B14F-4D97-AF65-F5344CB8AC3E}">
        <p14:creationId xmlns:p14="http://schemas.microsoft.com/office/powerpoint/2010/main" val="2697681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Commençons par le cluster 0, que j'ai appelé "Marchés émergents". </a:t>
            </a:r>
          </a:p>
          <a:p>
            <a:r>
              <a:rPr lang="fr-FR" dirty="0"/>
              <a:t>Il regroupe 86 pays, soit plus de la moitié de notre échantillon.</a:t>
            </a:r>
          </a:p>
          <a:p>
            <a:r>
              <a:rPr lang="fr-FR" dirty="0"/>
              <a:t>Le profil type de ces pays est le suivant : un PIB par habitant moyen de seulement 2844 dollars américains, une consommation de protéines animales très faible à 11,7 grammes par personne par jour, et un indice de stabilité politique négatif de moins 0,45, ce qui indique une certaine instabilité.</a:t>
            </a:r>
          </a:p>
          <a:p>
            <a:endParaRPr lang="fr-FR" dirty="0"/>
          </a:p>
          <a:p>
            <a:r>
              <a:rPr lang="fr-FR" dirty="0"/>
              <a:t>Quelques exemples concrets : l'Afghanistan, le Bangladesh, l'Angola.</a:t>
            </a:r>
          </a:p>
          <a:p>
            <a:endParaRPr lang="fr-FR" dirty="0"/>
          </a:p>
          <a:p>
            <a:r>
              <a:rPr lang="fr-FR" dirty="0"/>
              <a:t>Pour ces marchés, ma recommandation stratégique est claire : ce sont des marchés non prioritaires pour nous dans l'immédiat. Notre approche doit être une veille à long terme, sur un horizon de 5 à 10 ans. Nous devons surveiller leur évolution, car certains pourraient devenir intéressants à l'avenir, mais pour l'instant, nos ressources sont mieux investies ailleurs.</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11</a:t>
            </a:fld>
            <a:endParaRPr lang="fr-FR"/>
          </a:p>
        </p:txBody>
      </p:sp>
    </p:spTree>
    <p:extLst>
      <p:ext uri="{BB962C8B-B14F-4D97-AF65-F5344CB8AC3E}">
        <p14:creationId xmlns:p14="http://schemas.microsoft.com/office/powerpoint/2010/main" val="2879012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cluster 1, je l'ai baptisé "Géants mondiaux", et il ne compte que trois pays, mais pas n'importe lesquels : le Brésil, la Chine et les États-Unis. </a:t>
            </a:r>
          </a:p>
          <a:p>
            <a:endParaRPr lang="fr-FR" dirty="0"/>
          </a:p>
          <a:p>
            <a:r>
              <a:rPr lang="fr-FR" dirty="0"/>
              <a:t>Ce sont les trois superpuissances de la viande et de la volaille au niveau mondial.</a:t>
            </a:r>
          </a:p>
          <a:p>
            <a:endParaRPr lang="fr-FR" dirty="0"/>
          </a:p>
          <a:p>
            <a:r>
              <a:rPr lang="fr-FR" dirty="0"/>
              <a:t>Les chiffres parlent d'eux-mêmes : une production moyenne de 52 963 tonnes et des exportations de 5268 tonnes. Ces pays dominent le marché mondial.</a:t>
            </a:r>
          </a:p>
          <a:p>
            <a:endParaRPr lang="fr-FR" dirty="0"/>
          </a:p>
          <a:p>
            <a:r>
              <a:rPr lang="fr-FR" dirty="0"/>
              <a:t>Alors, quelle stratégie adopter face à ces mastodontes ? Nous ne pouvons clairement pas rivaliser avec eux sur les volumes ou les prix. </a:t>
            </a:r>
          </a:p>
          <a:p>
            <a:r>
              <a:rPr lang="fr-FR" dirty="0"/>
              <a:t>Ma recommandation est donc de cibler des niches premium en B2B. </a:t>
            </a:r>
          </a:p>
          <a:p>
            <a:r>
              <a:rPr lang="fr-FR" dirty="0"/>
              <a:t>Il s'agit de segments haut de gamme uniquement, où notre valeur ajoutée biologique et notre qualité française peuvent faire la différence. </a:t>
            </a:r>
          </a:p>
          <a:p>
            <a:endParaRPr lang="fr-FR" dirty="0"/>
          </a:p>
          <a:p>
            <a:r>
              <a:rPr lang="fr-FR" dirty="0"/>
              <a:t>Ces marchés sont complexes avec une concurrence féroce, mais il existe des opportunités dans les circuits de restauration haut de gamme ou les enseignes spécialisées. C'est une stratégie à long terme, sur 3 à 5 ans, qui nécessite des partenariats solides et une approche très ciblée.</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12</a:t>
            </a:fld>
            <a:endParaRPr lang="fr-FR"/>
          </a:p>
        </p:txBody>
      </p:sp>
    </p:spTree>
    <p:extLst>
      <p:ext uri="{BB962C8B-B14F-4D97-AF65-F5344CB8AC3E}">
        <p14:creationId xmlns:p14="http://schemas.microsoft.com/office/powerpoint/2010/main" val="255953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Passons maintenant au cluster 2, les "Pays développés". </a:t>
            </a:r>
          </a:p>
          <a:p>
            <a:endParaRPr lang="fr-FR" dirty="0"/>
          </a:p>
          <a:p>
            <a:r>
              <a:rPr lang="fr-FR" dirty="0"/>
              <a:t>Ce groupe de 73 pays représente notre cible de phase 2, à moyen terme.</a:t>
            </a:r>
          </a:p>
          <a:p>
            <a:r>
              <a:rPr lang="fr-FR" dirty="0"/>
              <a:t>On y trouve l'Union européenne, le Japon, le Canada, l'Australie, et bien d'autres économies avancées. </a:t>
            </a:r>
          </a:p>
          <a:p>
            <a:endParaRPr lang="fr-FR" dirty="0"/>
          </a:p>
          <a:p>
            <a:r>
              <a:rPr lang="fr-FR" dirty="0"/>
              <a:t>Ces marchés présentent un profil très attractif : une consommation élevée de 32 grammes de protéines animales par personne par jour, des importations supérieures à la production locale, ce qui signifie qu'ils sont demandeurs de produits étrangers, un indice de stabilité politique très élevé de plus 1,17, et un pouvoir d'achat important.</a:t>
            </a:r>
          </a:p>
          <a:p>
            <a:endParaRPr lang="fr-FR" dirty="0"/>
          </a:p>
          <a:p>
            <a:r>
              <a:rPr lang="fr-FR" dirty="0"/>
              <a:t>Ce sont donc des marchés naturellement attirants pour nous. Cependant, ils sont aussi très concurrentiels. De nombreux acteurs internationaux y sont déjà présents, et les barrières à l'entrée peuvent être élevées.</a:t>
            </a:r>
          </a:p>
          <a:p>
            <a:endParaRPr lang="fr-FR" dirty="0"/>
          </a:p>
          <a:p>
            <a:r>
              <a:rPr lang="fr-FR" dirty="0"/>
              <a:t>Ma recommandation stratégique est donc un déploiement sélectif. Il ne s'agit pas de foncer tête baissée sur tous ces pays en même temps, mais plutôt de sélectionner des marchés cibles pays par pays, et de définir des segments précis en termes de qualité et de volumes. C'est une approche à moyen terme, sur un horizon de 18 à 36 mois.</a:t>
            </a:r>
          </a:p>
          <a:p>
            <a:endParaRPr lang="fr-FR" dirty="0"/>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13</a:t>
            </a:fld>
            <a:endParaRPr lang="fr-FR"/>
          </a:p>
        </p:txBody>
      </p:sp>
    </p:spTree>
    <p:extLst>
      <p:ext uri="{BB962C8B-B14F-4D97-AF65-F5344CB8AC3E}">
        <p14:creationId xmlns:p14="http://schemas.microsoft.com/office/powerpoint/2010/main" val="1721498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maintenant, le cluster qui me paraît le plus stratégique à court terme : le cluster 3, les "Hubs stratégiques". </a:t>
            </a:r>
          </a:p>
          <a:p>
            <a:endParaRPr lang="fr-FR" dirty="0"/>
          </a:p>
          <a:p>
            <a:r>
              <a:rPr lang="fr-FR" dirty="0"/>
              <a:t>Il ne compte que 6 pays, mais ce sont des marchés à fort effet de levier.</a:t>
            </a:r>
          </a:p>
          <a:p>
            <a:endParaRPr lang="fr-FR" dirty="0"/>
          </a:p>
          <a:p>
            <a:r>
              <a:rPr lang="fr-FR" dirty="0"/>
              <a:t>On y trouve la France, l'Allemagne, Hong-Kong, l'Arabie Saoudite, le Mexique et le Royaume-Uni.</a:t>
            </a:r>
          </a:p>
          <a:p>
            <a:endParaRPr lang="fr-FR" dirty="0"/>
          </a:p>
          <a:p>
            <a:r>
              <a:rPr lang="fr-FR" dirty="0"/>
              <a:t>Pourquoi ces pays sont-ils si intéressants pour nous ?</a:t>
            </a:r>
          </a:p>
          <a:p>
            <a:endParaRPr lang="fr-FR" dirty="0"/>
          </a:p>
          <a:p>
            <a:r>
              <a:rPr lang="fr-FR" dirty="0"/>
              <a:t>Il y a un élément particulièrement rassurant : la France, notre marché domestique où nous sommes déjà implantés, fait partie de ce cluster. Cela signifie que les cinq autres pays partagent des caractéristiques similaires à un marché que nous connaissons bien et que nous maîtrisons déjà. C'est un vrai atout pour réduire le risque d'entrée sur ces nouveaux marchés.</a:t>
            </a:r>
          </a:p>
          <a:p>
            <a:endParaRPr lang="fr-FR" dirty="0"/>
          </a:p>
          <a:p>
            <a:r>
              <a:rPr lang="fr-FR" dirty="0"/>
              <a:t>Ensuite, la proximité et la logistique jouent en notre faveur. L'Allemagne est notre voisin direct, avec des infrastructures logistiques excellentes. Le cluster est de petite taille, ce qui signifie qu'on peut agir rapidement et piloter nos actions de manière simple et efficace.</a:t>
            </a:r>
          </a:p>
          <a:p>
            <a:endParaRPr lang="fr-FR" dirty="0"/>
          </a:p>
          <a:p>
            <a:r>
              <a:rPr lang="fr-FR" dirty="0"/>
              <a:t>Et surtout, ce sont des hubs, c'est-à-dire des plateformes d'importation et de réexportation qui nous donnent accès à des régions entières. </a:t>
            </a:r>
          </a:p>
          <a:p>
            <a:r>
              <a:rPr lang="fr-FR" dirty="0"/>
              <a:t>Hong-Kong est la porte d'entrée vers l'Asie du Sud-Est. L'Arabie Saoudite nous ouvre les marchés du Moyen-Orient et de l'Afrique du Nord, avec une mention spéciale pour l'opportunité halal que nous devrons anticiper en termes de certifications. Le Mexique, lui, peut servir de hub pour l'Amérique latine.</a:t>
            </a:r>
          </a:p>
          <a:p>
            <a:r>
              <a:rPr lang="fr-FR" dirty="0"/>
              <a:t>Ma recommandation stratégique est donc d'utiliser ces pays comme hubs logistiques. Un hub bien choisi nous permet d'accéder à tout un marché régional. C'est notre priorité numéro un à court terme.</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14</a:t>
            </a:fld>
            <a:endParaRPr lang="fr-FR"/>
          </a:p>
        </p:txBody>
      </p:sp>
    </p:spTree>
    <p:extLst>
      <p:ext uri="{BB962C8B-B14F-4D97-AF65-F5344CB8AC3E}">
        <p14:creationId xmlns:p14="http://schemas.microsoft.com/office/powerpoint/2010/main" val="2855118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Maintenant que nous avons compris nos quatre clusters, voyons comment les hiérarchiser dans le temps avec un plan d'action concret.</a:t>
            </a:r>
          </a:p>
          <a:p>
            <a:endParaRPr lang="fr-FR" dirty="0"/>
          </a:p>
          <a:p>
            <a:r>
              <a:rPr lang="fr-FR" dirty="0"/>
              <a:t>À court terme, sur les 0 à 18 prochains mois, notre focus absolu doit être le cluster 3, nos hubs stratégiques. </a:t>
            </a:r>
          </a:p>
          <a:p>
            <a:endParaRPr lang="fr-FR" dirty="0"/>
          </a:p>
          <a:p>
            <a:r>
              <a:rPr lang="fr-FR" dirty="0"/>
              <a:t>Plus précisément, je recommande de commencer par deux pays où nous avons un avantage évident de proximité : l'Allemagne et le Royaume-Uni. </a:t>
            </a:r>
          </a:p>
          <a:p>
            <a:r>
              <a:rPr lang="fr-FR" dirty="0"/>
              <a:t>L'Allemagne nous offre une excellente logistique et un accès facilité à l'Europe centrale. </a:t>
            </a:r>
          </a:p>
          <a:p>
            <a:r>
              <a:rPr lang="fr-FR" dirty="0"/>
              <a:t>Le Royaume-Uni présente également un intérêt particulier : après les différentes crises sanitaires qu'a connues le pays, notamment la vache folle et la grippe aviaire, les consommateurs britanniques sont devenus particulièrement sensibles à la qualité et à la traçabilité des produits carnés. </a:t>
            </a:r>
          </a:p>
          <a:p>
            <a:r>
              <a:rPr lang="fr-FR" dirty="0"/>
              <a:t>Notre positionnement biologique et notre expertise française peuvent donc y trouver un écho très favorable. </a:t>
            </a:r>
          </a:p>
          <a:p>
            <a:r>
              <a:rPr lang="fr-FR" dirty="0"/>
              <a:t>Ensuite, nous pourrons étendre à Hong-Kong, l'Arabie Saoudite et le Mexique, qui nous serviront de portes d'entrée régionales.</a:t>
            </a:r>
          </a:p>
          <a:p>
            <a:endParaRPr lang="fr-FR" dirty="0"/>
          </a:p>
          <a:p>
            <a:r>
              <a:rPr lang="fr-FR" dirty="0"/>
              <a:t>À moyen terme, sur 18 à 36 mois, nous passerons au cluster 2, les pays développés, avec un déploiement progressif et sélectif.</a:t>
            </a:r>
          </a:p>
          <a:p>
            <a:endParaRPr lang="fr-FR" dirty="0"/>
          </a:p>
          <a:p>
            <a:r>
              <a:rPr lang="fr-FR" dirty="0"/>
              <a:t>À long terme, sur 3 à 5 ans, le cluster 1, les géants mondiaux, mais uniquement sur des niches premium en B2B.</a:t>
            </a:r>
          </a:p>
          <a:p>
            <a:endParaRPr lang="fr-FR" dirty="0"/>
          </a:p>
          <a:p>
            <a:r>
              <a:rPr lang="fr-FR" dirty="0"/>
              <a:t>Et enfin, le cluster 0, les marchés émergents, restera sous veille sur un horizon de 5 à 10 ans.</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15</a:t>
            </a:fld>
            <a:endParaRPr lang="fr-FR"/>
          </a:p>
        </p:txBody>
      </p:sp>
    </p:spTree>
    <p:extLst>
      <p:ext uri="{BB962C8B-B14F-4D97-AF65-F5344CB8AC3E}">
        <p14:creationId xmlns:p14="http://schemas.microsoft.com/office/powerpoint/2010/main" val="3202792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Avant de conclure, un mot rapide sur la méthodologie pour vous assurer de la solidité de nos conclusions.</a:t>
            </a:r>
          </a:p>
          <a:p>
            <a:endParaRPr lang="fr-FR" dirty="0"/>
          </a:p>
          <a:p>
            <a:r>
              <a:rPr lang="fr-FR" dirty="0"/>
              <a:t>J'ai standardisé toutes les variables pour les rendre comparables, ce qui évite qu'une variable domine artificiellement l'analyse.</a:t>
            </a:r>
          </a:p>
          <a:p>
            <a:r>
              <a:rPr lang="fr-FR" dirty="0"/>
              <a:t> J'ai appliqué l'ACP avant le clustering pour réduire le bruit et obtenir une visualisation claire.</a:t>
            </a:r>
          </a:p>
          <a:p>
            <a:r>
              <a:rPr lang="fr-FR" dirty="0"/>
              <a:t>Et surtout, le choix de K égal 4 clusters repose sur une convergence de trois approches : l'observation visuelle, la CAH avec la méthode de Ward, et la méthode du coude avec K-</a:t>
            </a:r>
            <a:r>
              <a:rPr lang="fr-FR" dirty="0" err="1"/>
              <a:t>means</a:t>
            </a:r>
            <a:r>
              <a:rPr lang="fr-FR" dirty="0"/>
              <a:t>.</a:t>
            </a:r>
          </a:p>
          <a:p>
            <a:r>
              <a:rPr lang="fr-FR" dirty="0"/>
              <a:t>Cette triangulation nous donne une grande confiance dans nos résultats.</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16</a:t>
            </a:fld>
            <a:endParaRPr lang="fr-FR"/>
          </a:p>
        </p:txBody>
      </p:sp>
    </p:spTree>
    <p:extLst>
      <p:ext uri="{BB962C8B-B14F-4D97-AF65-F5344CB8AC3E}">
        <p14:creationId xmlns:p14="http://schemas.microsoft.com/office/powerpoint/2010/main" val="4068780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résumé, nous sommes partis de 168 pays et de 12 variables, une complexité impossible à gérer directement. </a:t>
            </a:r>
          </a:p>
          <a:p>
            <a:r>
              <a:rPr lang="fr-FR" dirty="0"/>
              <a:t>L'ACP nous a permis d'identifier les axes synthétiques essentiels. </a:t>
            </a:r>
          </a:p>
          <a:p>
            <a:r>
              <a:rPr lang="fr-FR"/>
              <a:t>Le </a:t>
            </a:r>
            <a:r>
              <a:rPr lang="fr-FR" dirty="0"/>
              <a:t>clustering avec K égal 4 a regroupé les pays selon leurs profils similaires</a:t>
            </a:r>
            <a:r>
              <a:rPr lang="fr-FR"/>
              <a:t>. </a:t>
            </a:r>
          </a:p>
          <a:p>
            <a:r>
              <a:rPr lang="fr-FR"/>
              <a:t>Et </a:t>
            </a:r>
            <a:r>
              <a:rPr lang="fr-FR" dirty="0"/>
              <a:t>l'interprétation business nous a conduits à définir 4 stratégies de marché claires et opérationnelles.</a:t>
            </a:r>
          </a:p>
          <a:p>
            <a:r>
              <a:rPr lang="fr-FR" dirty="0"/>
              <a:t>Nous savons maintenant où concentrer nos efforts, dans quel ordre, et avec quelle approche pour chaque segment.</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17</a:t>
            </a:fld>
            <a:endParaRPr lang="fr-FR"/>
          </a:p>
        </p:txBody>
      </p:sp>
    </p:spTree>
    <p:extLst>
      <p:ext uri="{BB962C8B-B14F-4D97-AF65-F5344CB8AC3E}">
        <p14:creationId xmlns:p14="http://schemas.microsoft.com/office/powerpoint/2010/main" val="3943196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Voilà, j'en ai terminé avec ma présentation. Merci beaucoup de votre attention. Je reste bien sûr à votre disposition pour répondre à vos questions ou approfondir certains points qui vous sembleraient importants. J'espère que cette analyse vous donnera les clés pour prendre les meilleures décisions pour le développement international de La Poule qui Chante.</a:t>
            </a:r>
          </a:p>
        </p:txBody>
      </p:sp>
      <p:sp>
        <p:nvSpPr>
          <p:cNvPr id="4" name="Espace réservé du numéro de diapositive 3"/>
          <p:cNvSpPr>
            <a:spLocks noGrp="1"/>
          </p:cNvSpPr>
          <p:nvPr>
            <p:ph type="sldNum" sz="quarter" idx="5"/>
          </p:nvPr>
        </p:nvSpPr>
        <p:spPr/>
        <p:txBody>
          <a:bodyPr/>
          <a:lstStyle/>
          <a:p>
            <a:fld id="{48BE8AFE-6A51-4C74-A089-8C6BAB899B6C}" type="slidenum">
              <a:rPr lang="fr-FR" smtClean="0"/>
              <a:t>18</a:t>
            </a:fld>
            <a:endParaRPr lang="fr-FR"/>
          </a:p>
        </p:txBody>
      </p:sp>
    </p:spTree>
    <p:extLst>
      <p:ext uri="{BB962C8B-B14F-4D97-AF65-F5344CB8AC3E}">
        <p14:creationId xmlns:p14="http://schemas.microsoft.com/office/powerpoint/2010/main" val="231453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8BC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8229600" cy="1371600"/>
          </a:xfrm>
          <a:prstGeom prst="rect">
            <a:avLst/>
          </a:prstGeom>
          <a:noFill/>
        </p:spPr>
        <p:txBody>
          <a:bodyPr wrap="none">
            <a:spAutoFit/>
          </a:bodyPr>
          <a:lstStyle/>
          <a:p>
            <a:pPr algn="ctr">
              <a:defRPr sz="5400" b="1">
                <a:solidFill>
                  <a:srgbClr val="FFFFFF"/>
                </a:solidFill>
              </a:defRPr>
            </a:pPr>
            <a:r>
              <a:t>"La Poule qui Chante"</a:t>
            </a:r>
          </a:p>
        </p:txBody>
      </p:sp>
      <p:sp>
        <p:nvSpPr>
          <p:cNvPr id="4" name="TextBox 3"/>
          <p:cNvSpPr txBox="1"/>
          <p:nvPr/>
        </p:nvSpPr>
        <p:spPr>
          <a:xfrm>
            <a:off x="457200" y="3840480"/>
            <a:ext cx="8229600" cy="914400"/>
          </a:xfrm>
          <a:prstGeom prst="rect">
            <a:avLst/>
          </a:prstGeom>
          <a:noFill/>
        </p:spPr>
        <p:txBody>
          <a:bodyPr wrap="none">
            <a:spAutoFit/>
          </a:bodyPr>
          <a:lstStyle/>
          <a:p>
            <a:pPr algn="ctr">
              <a:defRPr sz="2800">
                <a:solidFill>
                  <a:srgbClr val="FFFFFF"/>
                </a:solidFill>
              </a:defRPr>
            </a:pPr>
            <a:r>
              <a:t>Analyse stratégique pour l'export international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561646" cy="646331"/>
          </a:xfrm>
          <a:prstGeom prst="rect">
            <a:avLst/>
          </a:prstGeom>
          <a:noFill/>
        </p:spPr>
        <p:txBody>
          <a:bodyPr wrap="none">
            <a:spAutoFit/>
          </a:bodyPr>
          <a:lstStyle/>
          <a:p>
            <a:pPr>
              <a:defRPr sz="3600" b="1">
                <a:solidFill>
                  <a:srgbClr val="2E7D32"/>
                </a:solidFill>
              </a:defRPr>
            </a:pPr>
            <a:r>
              <a:rPr dirty="0"/>
              <a:t>Le </a:t>
            </a:r>
            <a:r>
              <a:rPr dirty="0" err="1"/>
              <a:t>défi</a:t>
            </a:r>
            <a:r>
              <a:rPr dirty="0"/>
              <a:t> </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7315200" cy="4572000"/>
          </a:xfrm>
          <a:prstGeom prst="rect">
            <a:avLst/>
          </a:prstGeom>
          <a:noFill/>
        </p:spPr>
        <p:txBody>
          <a:bodyPr wrap="square">
            <a:spAutoFit/>
          </a:bodyPr>
          <a:lstStyle/>
          <a:p>
            <a:pPr>
              <a:spcBef>
                <a:spcPts val="1000"/>
              </a:spcBef>
              <a:defRPr sz="2400">
                <a:solidFill>
                  <a:srgbClr val="212121"/>
                </a:solidFill>
              </a:defRPr>
            </a:pPr>
            <a:r>
              <a:t>🌍 168 pays à analyser</a:t>
            </a:r>
          </a:p>
          <a:p>
            <a:pPr>
              <a:spcBef>
                <a:spcPts val="1000"/>
              </a:spcBef>
              <a:defRPr sz="2400">
                <a:solidFill>
                  <a:srgbClr val="212121"/>
                </a:solidFill>
              </a:defRPr>
            </a:pPr>
            <a:r>
              <a:t>❓ Quels marchés cibler en priorité ?</a:t>
            </a:r>
          </a:p>
          <a:p>
            <a:pPr>
              <a:spcBef>
                <a:spcPts val="1000"/>
              </a:spcBef>
              <a:defRPr sz="2400">
                <a:solidFill>
                  <a:srgbClr val="212121"/>
                </a:solidFill>
              </a:defRPr>
            </a:pPr>
            <a:r>
              <a:t>🎯 Objectif : Segmentation pertinente</a:t>
            </a:r>
          </a:p>
          <a:p>
            <a:pPr>
              <a:spcBef>
                <a:spcPts val="1000"/>
              </a:spcBef>
              <a:defRPr sz="2400">
                <a:solidFill>
                  <a:srgbClr val="212121"/>
                </a:solidFill>
              </a:defRPr>
            </a:pPr>
            <a:endParaRPr/>
          </a:p>
          <a:p>
            <a:pPr>
              <a:spcBef>
                <a:spcPts val="1000"/>
              </a:spcBef>
              <a:defRPr sz="2400">
                <a:solidFill>
                  <a:srgbClr val="212121"/>
                </a:solidFill>
              </a:defRPr>
            </a:pPr>
            <a:r>
              <a:t>💡 Approche data-driven avec 12 variables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Démarche analytique</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7315200" cy="4572000"/>
          </a:xfrm>
          <a:prstGeom prst="rect">
            <a:avLst/>
          </a:prstGeom>
          <a:noFill/>
        </p:spPr>
        <p:txBody>
          <a:bodyPr wrap="square">
            <a:spAutoFit/>
          </a:bodyPr>
          <a:lstStyle/>
          <a:p>
            <a:pPr>
              <a:spcBef>
                <a:spcPts val="1000"/>
              </a:spcBef>
              <a:defRPr sz="2400">
                <a:solidFill>
                  <a:srgbClr val="212121"/>
                </a:solidFill>
              </a:defRPr>
            </a:pPr>
            <a:r>
              <a:t>1️⃣ ACP (Analyse en Composantes Principales)</a:t>
            </a:r>
          </a:p>
          <a:p>
            <a:pPr>
              <a:spcBef>
                <a:spcPts val="1000"/>
              </a:spcBef>
              <a:defRPr sz="2400">
                <a:solidFill>
                  <a:srgbClr val="212121"/>
                </a:solidFill>
              </a:defRPr>
            </a:pPr>
            <a:r>
              <a:t>   → Réduction de 12 à 2-3 dimensions</a:t>
            </a:r>
          </a:p>
          <a:p>
            <a:pPr>
              <a:spcBef>
                <a:spcPts val="1000"/>
              </a:spcBef>
              <a:defRPr sz="2400">
                <a:solidFill>
                  <a:srgbClr val="212121"/>
                </a:solidFill>
              </a:defRPr>
            </a:pPr>
            <a:endParaRPr/>
          </a:p>
          <a:p>
            <a:pPr>
              <a:spcBef>
                <a:spcPts val="1000"/>
              </a:spcBef>
              <a:defRPr sz="2400">
                <a:solidFill>
                  <a:srgbClr val="212121"/>
                </a:solidFill>
              </a:defRPr>
            </a:pPr>
            <a:r>
              <a:t>2️⃣ CAH (Classification Ascendante Hiérarchique)</a:t>
            </a:r>
          </a:p>
          <a:p>
            <a:pPr>
              <a:spcBef>
                <a:spcPts val="1000"/>
              </a:spcBef>
              <a:defRPr sz="2400">
                <a:solidFill>
                  <a:srgbClr val="212121"/>
                </a:solidFill>
              </a:defRPr>
            </a:pPr>
            <a:r>
              <a:t>   → Identification de la structure naturelle</a:t>
            </a:r>
          </a:p>
          <a:p>
            <a:pPr>
              <a:spcBef>
                <a:spcPts val="1000"/>
              </a:spcBef>
              <a:defRPr sz="2400">
                <a:solidFill>
                  <a:srgbClr val="212121"/>
                </a:solidFill>
              </a:defRPr>
            </a:pPr>
            <a:endParaRPr/>
          </a:p>
          <a:p>
            <a:pPr>
              <a:spcBef>
                <a:spcPts val="1000"/>
              </a:spcBef>
              <a:defRPr sz="2400">
                <a:solidFill>
                  <a:srgbClr val="212121"/>
                </a:solidFill>
              </a:defRPr>
            </a:pPr>
            <a:r>
              <a:t>3️⃣ K-means (Clustering)</a:t>
            </a:r>
          </a:p>
          <a:p>
            <a:pPr>
              <a:spcBef>
                <a:spcPts val="1000"/>
              </a:spcBef>
              <a:defRPr sz="2400">
                <a:solidFill>
                  <a:srgbClr val="212121"/>
                </a:solidFill>
              </a:defRPr>
            </a:pPr>
            <a:r>
              <a:t>   → Segmentation en 4 groupes homogènes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Réduction de dimensionnalité - ACP</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5303" y="4719409"/>
            <a:ext cx="7315200" cy="2082621"/>
          </a:xfrm>
          <a:prstGeom prst="rect">
            <a:avLst/>
          </a:prstGeom>
          <a:noFill/>
        </p:spPr>
        <p:txBody>
          <a:bodyPr wrap="square">
            <a:spAutoFit/>
          </a:bodyPr>
          <a:lstStyle/>
          <a:p>
            <a:pPr>
              <a:spcBef>
                <a:spcPts val="1000"/>
              </a:spcBef>
              <a:defRPr sz="2400">
                <a:solidFill>
                  <a:srgbClr val="212121"/>
                </a:solidFill>
              </a:defRPr>
            </a:pPr>
            <a:r>
              <a:rPr sz="1600" dirty="0"/>
              <a:t>📊 </a:t>
            </a:r>
            <a:r>
              <a:rPr sz="1600" dirty="0" err="1"/>
              <a:t>Éboulis</a:t>
            </a:r>
            <a:r>
              <a:rPr sz="1600" dirty="0"/>
              <a:t> des </a:t>
            </a:r>
            <a:r>
              <a:rPr sz="1600" dirty="0" err="1"/>
              <a:t>valeurs</a:t>
            </a:r>
            <a:r>
              <a:rPr sz="1600" dirty="0"/>
              <a:t> </a:t>
            </a:r>
            <a:r>
              <a:rPr sz="1600" dirty="0" err="1"/>
              <a:t>propres</a:t>
            </a:r>
            <a:endParaRPr sz="1600" dirty="0"/>
          </a:p>
          <a:p>
            <a:pPr>
              <a:spcBef>
                <a:spcPts val="1000"/>
              </a:spcBef>
              <a:defRPr sz="2400">
                <a:solidFill>
                  <a:srgbClr val="212121"/>
                </a:solidFill>
              </a:defRPr>
            </a:pPr>
            <a:r>
              <a:rPr sz="1600" dirty="0"/>
              <a:t>• CP1 : </a:t>
            </a:r>
            <a:r>
              <a:rPr sz="1600" b="1" dirty="0"/>
              <a:t>37.0%</a:t>
            </a:r>
            <a:r>
              <a:rPr sz="1600" dirty="0"/>
              <a:t> de variance</a:t>
            </a:r>
          </a:p>
          <a:p>
            <a:pPr>
              <a:spcBef>
                <a:spcPts val="1000"/>
              </a:spcBef>
              <a:defRPr sz="2400">
                <a:solidFill>
                  <a:srgbClr val="212121"/>
                </a:solidFill>
              </a:defRPr>
            </a:pPr>
            <a:r>
              <a:rPr sz="1600" dirty="0"/>
              <a:t>• CP2 : </a:t>
            </a:r>
            <a:r>
              <a:rPr sz="1600" b="1" dirty="0"/>
              <a:t>21.2%</a:t>
            </a:r>
            <a:r>
              <a:rPr sz="1600" dirty="0"/>
              <a:t> de variance</a:t>
            </a:r>
          </a:p>
          <a:p>
            <a:pPr>
              <a:spcBef>
                <a:spcPts val="1000"/>
              </a:spcBef>
              <a:defRPr sz="2400">
                <a:solidFill>
                  <a:srgbClr val="212121"/>
                </a:solidFill>
              </a:defRPr>
            </a:pPr>
            <a:r>
              <a:rPr sz="1600" dirty="0"/>
              <a:t>• Total : </a:t>
            </a:r>
            <a:r>
              <a:rPr sz="1600" b="1" dirty="0"/>
              <a:t>58.2%</a:t>
            </a:r>
            <a:r>
              <a:rPr sz="1600" dirty="0"/>
              <a:t> de </a:t>
            </a:r>
            <a:r>
              <a:rPr sz="1600" dirty="0" err="1"/>
              <a:t>l'information</a:t>
            </a:r>
            <a:r>
              <a:rPr sz="1600" dirty="0"/>
              <a:t> </a:t>
            </a:r>
            <a:r>
              <a:rPr sz="1600" dirty="0" err="1"/>
              <a:t>conservée</a:t>
            </a:r>
            <a:endParaRPr sz="1600" dirty="0"/>
          </a:p>
          <a:p>
            <a:pPr>
              <a:spcBef>
                <a:spcPts val="1000"/>
              </a:spcBef>
              <a:defRPr sz="2400">
                <a:solidFill>
                  <a:srgbClr val="212121"/>
                </a:solidFill>
              </a:defRPr>
            </a:pPr>
            <a:r>
              <a:rPr sz="1600" dirty="0"/>
              <a:t>✅ </a:t>
            </a:r>
            <a:r>
              <a:rPr lang="fr-FR" sz="1600" dirty="0"/>
              <a:t>Choix retenu : 2 composantes (CP1–CP2) pour une représentation 2D lisible (58% de variance expliquée)</a:t>
            </a:r>
            <a:endParaRPr sz="1600" dirty="0"/>
          </a:p>
        </p:txBody>
      </p:sp>
      <p:pic>
        <p:nvPicPr>
          <p:cNvPr id="5" name="Image 4">
            <a:extLst>
              <a:ext uri="{FF2B5EF4-FFF2-40B4-BE49-F238E27FC236}">
                <a16:creationId xmlns:a16="http://schemas.microsoft.com/office/drawing/2014/main" id="{0BBE6222-F18B-66E1-23B5-72017BA4C1DB}"/>
              </a:ext>
            </a:extLst>
          </p:cNvPr>
          <p:cNvPicPr>
            <a:picLocks noChangeAspect="1"/>
          </p:cNvPicPr>
          <p:nvPr/>
        </p:nvPicPr>
        <p:blipFill>
          <a:blip r:embed="rId3"/>
          <a:stretch>
            <a:fillRect/>
          </a:stretch>
        </p:blipFill>
        <p:spPr>
          <a:xfrm>
            <a:off x="0" y="1190960"/>
            <a:ext cx="9144000" cy="3399299"/>
          </a:xfrm>
          <a:prstGeom prst="rect">
            <a:avLst/>
          </a:prstGeom>
        </p:spPr>
      </p:pic>
      <p:sp>
        <p:nvSpPr>
          <p:cNvPr id="6" name="ZoneTexte 5">
            <a:extLst>
              <a:ext uri="{FF2B5EF4-FFF2-40B4-BE49-F238E27FC236}">
                <a16:creationId xmlns:a16="http://schemas.microsoft.com/office/drawing/2014/main" id="{83EC747E-04B5-E7D9-5C66-BB534B8126E9}"/>
              </a:ext>
            </a:extLst>
          </p:cNvPr>
          <p:cNvSpPr txBox="1"/>
          <p:nvPr/>
        </p:nvSpPr>
        <p:spPr>
          <a:xfrm>
            <a:off x="4729316" y="4752249"/>
            <a:ext cx="4070555" cy="415498"/>
          </a:xfrm>
          <a:prstGeom prst="rect">
            <a:avLst/>
          </a:prstGeom>
          <a:noFill/>
        </p:spPr>
        <p:txBody>
          <a:bodyPr wrap="square" rtlCol="0">
            <a:spAutoFit/>
          </a:bodyPr>
          <a:lstStyle/>
          <a:p>
            <a:r>
              <a:rPr lang="fr-FR" sz="1050" dirty="0"/>
              <a:t>À noter : les règles de Kaiser / 80% suggèrent 4–5 composantes ; ici on privilégie la lisibilité 2D pour l’analyse exploratoire.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336991" cy="830997"/>
          </a:xfrm>
          <a:prstGeom prst="rect">
            <a:avLst/>
          </a:prstGeom>
          <a:noFill/>
        </p:spPr>
        <p:txBody>
          <a:bodyPr wrap="none">
            <a:spAutoFit/>
          </a:bodyPr>
          <a:lstStyle/>
          <a:p>
            <a:pPr>
              <a:defRPr sz="3600" b="1">
                <a:solidFill>
                  <a:srgbClr val="2E7D32"/>
                </a:solidFill>
              </a:defRPr>
            </a:pPr>
            <a:r>
              <a:rPr dirty="0"/>
              <a:t>Les deux dimensions </a:t>
            </a:r>
            <a:r>
              <a:rPr dirty="0" err="1"/>
              <a:t>principales</a:t>
            </a:r>
            <a:endParaRPr lang="fr-FR" dirty="0"/>
          </a:p>
          <a:p>
            <a:pPr>
              <a:defRPr sz="3600" b="1">
                <a:solidFill>
                  <a:srgbClr val="2E7D32"/>
                </a:solidFill>
              </a:defRPr>
            </a:pPr>
            <a:r>
              <a:rPr lang="fr-FR" sz="1200" b="1" dirty="0"/>
              <a:t>CP1–CP2 : 58% de variance expliquée</a:t>
            </a:r>
            <a:endParaRPr sz="1200" dirty="0"/>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6318" y="1738899"/>
            <a:ext cx="3251422" cy="3795911"/>
          </a:xfrm>
          <a:prstGeom prst="rect">
            <a:avLst/>
          </a:prstGeom>
          <a:noFill/>
        </p:spPr>
        <p:txBody>
          <a:bodyPr wrap="square">
            <a:spAutoFit/>
          </a:bodyPr>
          <a:lstStyle/>
          <a:p>
            <a:r>
              <a:rPr lang="fr-FR" sz="1600" b="1" dirty="0"/>
              <a:t>CP1 (37%) — Intensité “production &amp; échanges”</a:t>
            </a:r>
            <a:endParaRPr lang="fr-FR" sz="1600" dirty="0"/>
          </a:p>
          <a:p>
            <a:r>
              <a:rPr lang="fr-FR" sz="1600" dirty="0"/>
              <a:t>Production viande/volaille</a:t>
            </a:r>
          </a:p>
          <a:p>
            <a:r>
              <a:rPr lang="fr-FR" sz="1600" dirty="0"/>
              <a:t>Importations &amp; exportations viande/volaille</a:t>
            </a:r>
          </a:p>
          <a:p>
            <a:r>
              <a:rPr lang="fr-FR" sz="1600" dirty="0"/>
              <a:t>Population (effet “taille”)</a:t>
            </a:r>
          </a:p>
          <a:p>
            <a:pPr>
              <a:spcBef>
                <a:spcPts val="1000"/>
              </a:spcBef>
              <a:defRPr sz="2400">
                <a:solidFill>
                  <a:srgbClr val="212121"/>
                </a:solidFill>
              </a:defRPr>
            </a:pPr>
            <a:endParaRPr lang="fr-FR" sz="1600" dirty="0"/>
          </a:p>
          <a:p>
            <a:pPr>
              <a:spcBef>
                <a:spcPts val="1000"/>
              </a:spcBef>
              <a:defRPr sz="2400">
                <a:solidFill>
                  <a:srgbClr val="212121"/>
                </a:solidFill>
              </a:defRPr>
            </a:pPr>
            <a:endParaRPr sz="1600" dirty="0"/>
          </a:p>
          <a:p>
            <a:r>
              <a:rPr lang="fr-FR" sz="1600" b="1" dirty="0"/>
              <a:t>CP2 (21%) — Développement &amp; protéines par personne</a:t>
            </a:r>
            <a:endParaRPr lang="fr-FR" sz="1600" dirty="0"/>
          </a:p>
          <a:p>
            <a:r>
              <a:rPr lang="fr-FR" sz="1600" dirty="0"/>
              <a:t>PIB/habitant (prix constants)</a:t>
            </a:r>
          </a:p>
          <a:p>
            <a:r>
              <a:rPr lang="fr-FR" sz="1600" dirty="0"/>
              <a:t>Stabilité politique</a:t>
            </a:r>
          </a:p>
          <a:p>
            <a:r>
              <a:rPr lang="fr-FR" sz="1600" dirty="0"/>
              <a:t>Protéines disponibles / personne (viande + volaille)</a:t>
            </a:r>
          </a:p>
        </p:txBody>
      </p:sp>
      <p:pic>
        <p:nvPicPr>
          <p:cNvPr id="8" name="Image 7" descr="Une image contenant texte, diagramme, ligne, Parallèle&#10;&#10;Le contenu généré par l’IA peut être incorrect.">
            <a:extLst>
              <a:ext uri="{FF2B5EF4-FFF2-40B4-BE49-F238E27FC236}">
                <a16:creationId xmlns:a16="http://schemas.microsoft.com/office/drawing/2014/main" id="{3B3B3014-4795-1E9E-AA09-0A5574BABF35}"/>
              </a:ext>
            </a:extLst>
          </p:cNvPr>
          <p:cNvPicPr>
            <a:picLocks noChangeAspect="1"/>
          </p:cNvPicPr>
          <p:nvPr/>
        </p:nvPicPr>
        <p:blipFill>
          <a:blip r:embed="rId3"/>
          <a:stretch>
            <a:fillRect/>
          </a:stretch>
        </p:blipFill>
        <p:spPr>
          <a:xfrm>
            <a:off x="3575341" y="1128352"/>
            <a:ext cx="5372341" cy="5485614"/>
          </a:xfrm>
          <a:prstGeom prst="rect">
            <a:avLst/>
          </a:prstGeom>
        </p:spPr>
      </p:pic>
      <p:sp>
        <p:nvSpPr>
          <p:cNvPr id="9" name="ZoneTexte 8">
            <a:extLst>
              <a:ext uri="{FF2B5EF4-FFF2-40B4-BE49-F238E27FC236}">
                <a16:creationId xmlns:a16="http://schemas.microsoft.com/office/drawing/2014/main" id="{09924F9B-C1AE-FFD8-692D-0889CF5698B0}"/>
              </a:ext>
            </a:extLst>
          </p:cNvPr>
          <p:cNvSpPr txBox="1"/>
          <p:nvPr/>
        </p:nvSpPr>
        <p:spPr>
          <a:xfrm>
            <a:off x="3868666" y="6586570"/>
            <a:ext cx="5372341" cy="276999"/>
          </a:xfrm>
          <a:prstGeom prst="rect">
            <a:avLst/>
          </a:prstGeom>
          <a:noFill/>
        </p:spPr>
        <p:txBody>
          <a:bodyPr wrap="square" rtlCol="0">
            <a:spAutoFit/>
          </a:bodyPr>
          <a:lstStyle/>
          <a:p>
            <a:r>
              <a:rPr lang="fr-FR" sz="1200" dirty="0"/>
              <a:t>Flèche longue = variable bien représentée ; flèches proches = variables corrélées.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Structure naturelle des données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9096" y="1341120"/>
            <a:ext cx="7315200" cy="959237"/>
          </a:xfrm>
          <a:prstGeom prst="rect">
            <a:avLst/>
          </a:prstGeom>
          <a:noFill/>
        </p:spPr>
        <p:txBody>
          <a:bodyPr wrap="square">
            <a:spAutoFit/>
          </a:bodyPr>
          <a:lstStyle/>
          <a:p>
            <a:pPr>
              <a:spcBef>
                <a:spcPts val="1000"/>
              </a:spcBef>
              <a:defRPr sz="2400">
                <a:solidFill>
                  <a:srgbClr val="212121"/>
                </a:solidFill>
              </a:defRPr>
            </a:pPr>
            <a:r>
              <a:rPr dirty="0"/>
              <a:t> Projection des 168 pays sur CP1 × CP2</a:t>
            </a:r>
          </a:p>
          <a:p>
            <a:pPr>
              <a:spcBef>
                <a:spcPts val="1000"/>
              </a:spcBef>
              <a:defRPr sz="2400">
                <a:solidFill>
                  <a:srgbClr val="212121"/>
                </a:solidFill>
              </a:defRPr>
            </a:pPr>
            <a:r>
              <a:rPr dirty="0"/>
              <a:t> Observation : 4-5 </a:t>
            </a:r>
            <a:r>
              <a:rPr dirty="0" err="1"/>
              <a:t>groupes</a:t>
            </a:r>
            <a:r>
              <a:rPr dirty="0"/>
              <a:t> </a:t>
            </a:r>
            <a:r>
              <a:rPr dirty="0" err="1"/>
              <a:t>visibles</a:t>
            </a:r>
            <a:r>
              <a:rPr dirty="0"/>
              <a:t> </a:t>
            </a:r>
            <a:r>
              <a:rPr dirty="0" err="1"/>
              <a:t>spontanément</a:t>
            </a:r>
            <a:endParaRPr dirty="0"/>
          </a:p>
        </p:txBody>
      </p:sp>
      <p:sp>
        <p:nvSpPr>
          <p:cNvPr id="7" name="ZoneTexte 6">
            <a:extLst>
              <a:ext uri="{FF2B5EF4-FFF2-40B4-BE49-F238E27FC236}">
                <a16:creationId xmlns:a16="http://schemas.microsoft.com/office/drawing/2014/main" id="{4CBC8CF3-A70F-7F7C-E638-FA7AB1A92166}"/>
              </a:ext>
            </a:extLst>
          </p:cNvPr>
          <p:cNvSpPr txBox="1"/>
          <p:nvPr/>
        </p:nvSpPr>
        <p:spPr>
          <a:xfrm>
            <a:off x="6862915" y="2840117"/>
            <a:ext cx="2182762" cy="2693045"/>
          </a:xfrm>
          <a:prstGeom prst="rect">
            <a:avLst/>
          </a:prstGeom>
          <a:noFill/>
        </p:spPr>
        <p:txBody>
          <a:bodyPr wrap="square" rtlCol="0">
            <a:spAutoFit/>
          </a:bodyPr>
          <a:lstStyle/>
          <a:p>
            <a:pPr>
              <a:spcBef>
                <a:spcPts val="1000"/>
              </a:spcBef>
              <a:defRPr sz="2400">
                <a:solidFill>
                  <a:srgbClr val="212121"/>
                </a:solidFill>
              </a:defRPr>
            </a:pPr>
            <a:r>
              <a:rPr lang="fr-FR" sz="1600" dirty="0"/>
              <a:t>• Extrême gauche : Pays en développement</a:t>
            </a:r>
          </a:p>
          <a:p>
            <a:pPr>
              <a:spcBef>
                <a:spcPts val="1000"/>
              </a:spcBef>
              <a:defRPr sz="2400">
                <a:solidFill>
                  <a:srgbClr val="212121"/>
                </a:solidFill>
              </a:defRPr>
            </a:pPr>
            <a:r>
              <a:rPr lang="fr-FR" sz="1600" dirty="0"/>
              <a:t>• </a:t>
            </a:r>
            <a:r>
              <a:rPr lang="fr-FR" sz="1600" dirty="0" err="1"/>
              <a:t>Centre-haut</a:t>
            </a:r>
            <a:r>
              <a:rPr lang="fr-FR" sz="1600" dirty="0"/>
              <a:t> : Pays développés importateurs</a:t>
            </a:r>
          </a:p>
          <a:p>
            <a:pPr>
              <a:spcBef>
                <a:spcPts val="1000"/>
              </a:spcBef>
              <a:defRPr sz="2400">
                <a:solidFill>
                  <a:srgbClr val="212121"/>
                </a:solidFill>
              </a:defRPr>
            </a:pPr>
            <a:r>
              <a:rPr lang="fr-FR" sz="1600" dirty="0"/>
              <a:t>• Droite : Grands producteurs</a:t>
            </a:r>
          </a:p>
          <a:p>
            <a:pPr>
              <a:spcBef>
                <a:spcPts val="1000"/>
              </a:spcBef>
              <a:defRPr sz="2400">
                <a:solidFill>
                  <a:srgbClr val="212121"/>
                </a:solidFill>
              </a:defRPr>
            </a:pPr>
            <a:r>
              <a:rPr lang="fr-FR" sz="1600" dirty="0"/>
              <a:t>• </a:t>
            </a:r>
            <a:r>
              <a:rPr lang="fr-FR" sz="1600" dirty="0" err="1"/>
              <a:t>Outliers</a:t>
            </a:r>
            <a:r>
              <a:rPr lang="fr-FR" sz="1600" dirty="0"/>
              <a:t> : Chine, USA, Brésil</a:t>
            </a:r>
          </a:p>
        </p:txBody>
      </p:sp>
      <p:pic>
        <p:nvPicPr>
          <p:cNvPr id="9" name="Image 8" descr="Une image contenant texte, diagramme, capture d’écran, carte">
            <a:extLst>
              <a:ext uri="{FF2B5EF4-FFF2-40B4-BE49-F238E27FC236}">
                <a16:creationId xmlns:a16="http://schemas.microsoft.com/office/drawing/2014/main" id="{03570745-D35C-F778-1973-0A5FDFFB184F}"/>
              </a:ext>
            </a:extLst>
          </p:cNvPr>
          <p:cNvPicPr>
            <a:picLocks noChangeAspect="1"/>
          </p:cNvPicPr>
          <p:nvPr/>
        </p:nvPicPr>
        <p:blipFill>
          <a:blip r:embed="rId3"/>
          <a:stretch>
            <a:fillRect/>
          </a:stretch>
        </p:blipFill>
        <p:spPr>
          <a:xfrm>
            <a:off x="172064" y="2447837"/>
            <a:ext cx="6660272" cy="40455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Classification Ascendante Hiérarchique</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53962" y="1207008"/>
            <a:ext cx="7315200" cy="1841530"/>
          </a:xfrm>
          <a:prstGeom prst="rect">
            <a:avLst/>
          </a:prstGeom>
          <a:noFill/>
        </p:spPr>
        <p:txBody>
          <a:bodyPr wrap="square">
            <a:spAutoFit/>
          </a:bodyPr>
          <a:lstStyle/>
          <a:p>
            <a:pPr>
              <a:spcBef>
                <a:spcPts val="1000"/>
              </a:spcBef>
              <a:defRPr sz="2400">
                <a:solidFill>
                  <a:srgbClr val="212121"/>
                </a:solidFill>
              </a:defRPr>
            </a:pPr>
            <a:r>
              <a:rPr sz="1200" dirty="0"/>
              <a:t>🌳 </a:t>
            </a:r>
            <a:r>
              <a:rPr sz="1200" dirty="0" err="1"/>
              <a:t>Dendrogramme</a:t>
            </a:r>
            <a:r>
              <a:rPr sz="1200" dirty="0"/>
              <a:t> - </a:t>
            </a:r>
            <a:r>
              <a:rPr sz="1200" dirty="0" err="1"/>
              <a:t>Méthode</a:t>
            </a:r>
            <a:r>
              <a:rPr sz="1200" dirty="0"/>
              <a:t> de Ward</a:t>
            </a:r>
          </a:p>
          <a:p>
            <a:pPr>
              <a:spcBef>
                <a:spcPts val="1000"/>
              </a:spcBef>
              <a:defRPr sz="2400">
                <a:solidFill>
                  <a:srgbClr val="212121"/>
                </a:solidFill>
              </a:defRPr>
            </a:pPr>
            <a:r>
              <a:rPr sz="1200" dirty="0"/>
              <a:t>3 </a:t>
            </a:r>
            <a:r>
              <a:rPr sz="1200" dirty="0" err="1"/>
              <a:t>seuils</a:t>
            </a:r>
            <a:r>
              <a:rPr sz="1200" dirty="0"/>
              <a:t> </a:t>
            </a:r>
            <a:r>
              <a:rPr sz="1200" dirty="0" err="1"/>
              <a:t>testés</a:t>
            </a:r>
            <a:r>
              <a:rPr sz="1200" dirty="0"/>
              <a:t> :</a:t>
            </a:r>
          </a:p>
          <a:p>
            <a:pPr>
              <a:spcBef>
                <a:spcPts val="1000"/>
              </a:spcBef>
              <a:defRPr sz="2400">
                <a:solidFill>
                  <a:srgbClr val="212121"/>
                </a:solidFill>
              </a:defRPr>
            </a:pPr>
            <a:r>
              <a:rPr sz="1200" dirty="0"/>
              <a:t>  • K=3</a:t>
            </a:r>
            <a:r>
              <a:rPr lang="fr-FR" sz="1200" dirty="0"/>
              <a:t> : trop agrégé (groupes trop hétérogènes)</a:t>
            </a:r>
            <a:endParaRPr sz="1200" dirty="0"/>
          </a:p>
          <a:p>
            <a:pPr>
              <a:spcBef>
                <a:spcPts val="1000"/>
              </a:spcBef>
              <a:defRPr sz="2400">
                <a:solidFill>
                  <a:srgbClr val="212121"/>
                </a:solidFill>
              </a:defRPr>
            </a:pPr>
            <a:r>
              <a:rPr sz="1200" dirty="0"/>
              <a:t>  • K=4 </a:t>
            </a:r>
            <a:r>
              <a:rPr lang="fr-FR" sz="1200" dirty="0"/>
              <a:t>: compromis retenu</a:t>
            </a:r>
            <a:r>
              <a:rPr sz="1200" dirty="0"/>
              <a:t> ✓</a:t>
            </a:r>
          </a:p>
          <a:p>
            <a:pPr>
              <a:spcBef>
                <a:spcPts val="1000"/>
              </a:spcBef>
              <a:defRPr sz="2400">
                <a:solidFill>
                  <a:srgbClr val="212121"/>
                </a:solidFill>
              </a:defRPr>
            </a:pPr>
            <a:r>
              <a:rPr sz="1200" dirty="0"/>
              <a:t>  • K=5-6</a:t>
            </a:r>
            <a:r>
              <a:rPr lang="fr-FR" sz="1200" dirty="0"/>
              <a:t> :</a:t>
            </a:r>
            <a:r>
              <a:rPr sz="1200" dirty="0"/>
              <a:t> sur-segmentation</a:t>
            </a:r>
          </a:p>
          <a:p>
            <a:pPr>
              <a:spcBef>
                <a:spcPts val="1000"/>
              </a:spcBef>
              <a:defRPr sz="2400">
                <a:solidFill>
                  <a:srgbClr val="212121"/>
                </a:solidFill>
              </a:defRPr>
            </a:pPr>
            <a:r>
              <a:rPr sz="1000" dirty="0"/>
              <a:t>💡 Les grands </a:t>
            </a:r>
            <a:r>
              <a:rPr sz="1000" dirty="0" err="1"/>
              <a:t>sauts</a:t>
            </a:r>
            <a:r>
              <a:rPr sz="1000" dirty="0"/>
              <a:t> = fusions de </a:t>
            </a:r>
            <a:r>
              <a:rPr sz="1000" dirty="0" err="1"/>
              <a:t>groupes</a:t>
            </a:r>
            <a:r>
              <a:rPr sz="1000" dirty="0"/>
              <a:t> </a:t>
            </a:r>
            <a:r>
              <a:rPr sz="1000" dirty="0" err="1"/>
              <a:t>différents</a:t>
            </a:r>
            <a:endParaRPr sz="1000" dirty="0"/>
          </a:p>
        </p:txBody>
      </p:sp>
      <p:pic>
        <p:nvPicPr>
          <p:cNvPr id="8" name="Image 7" descr="Une image contenant ligne, diagramme, Tracé, capture d’écran&#10;&#10;Le contenu généré par l’IA peut être incorrect.">
            <a:extLst>
              <a:ext uri="{FF2B5EF4-FFF2-40B4-BE49-F238E27FC236}">
                <a16:creationId xmlns:a16="http://schemas.microsoft.com/office/drawing/2014/main" id="{EAFEF949-21B5-BD32-5D93-1E50F0B8EBCB}"/>
              </a:ext>
            </a:extLst>
          </p:cNvPr>
          <p:cNvPicPr>
            <a:picLocks noChangeAspect="1"/>
          </p:cNvPicPr>
          <p:nvPr/>
        </p:nvPicPr>
        <p:blipFill>
          <a:blip r:embed="rId3"/>
          <a:stretch>
            <a:fillRect/>
          </a:stretch>
        </p:blipFill>
        <p:spPr>
          <a:xfrm>
            <a:off x="0" y="3249707"/>
            <a:ext cx="9144000" cy="31047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Validation avec K-means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5639" y="2131505"/>
            <a:ext cx="7315200" cy="3334246"/>
          </a:xfrm>
          <a:prstGeom prst="rect">
            <a:avLst/>
          </a:prstGeom>
          <a:noFill/>
        </p:spPr>
        <p:txBody>
          <a:bodyPr wrap="square">
            <a:spAutoFit/>
          </a:bodyPr>
          <a:lstStyle/>
          <a:p>
            <a:pPr>
              <a:spcBef>
                <a:spcPts val="1000"/>
              </a:spcBef>
              <a:defRPr sz="2400">
                <a:solidFill>
                  <a:srgbClr val="212121"/>
                </a:solidFill>
              </a:defRPr>
            </a:pPr>
            <a:r>
              <a:rPr sz="1600" dirty="0"/>
              <a:t>📉 </a:t>
            </a:r>
            <a:r>
              <a:rPr sz="1600" dirty="0" err="1"/>
              <a:t>Méthode</a:t>
            </a:r>
            <a:r>
              <a:rPr sz="1600" dirty="0"/>
              <a:t> du </a:t>
            </a:r>
            <a:r>
              <a:rPr sz="1600" dirty="0" err="1"/>
              <a:t>coude</a:t>
            </a:r>
            <a:r>
              <a:rPr lang="fr-FR" sz="1600" dirty="0"/>
              <a:t> (Inertie)</a:t>
            </a:r>
            <a:endParaRPr sz="1600" dirty="0"/>
          </a:p>
          <a:p>
            <a:pPr>
              <a:spcBef>
                <a:spcPts val="1000"/>
              </a:spcBef>
              <a:defRPr sz="2400">
                <a:solidFill>
                  <a:srgbClr val="212121"/>
                </a:solidFill>
              </a:defRPr>
            </a:pPr>
            <a:endParaRPr sz="1600" dirty="0"/>
          </a:p>
          <a:p>
            <a:pPr>
              <a:spcBef>
                <a:spcPts val="1000"/>
              </a:spcBef>
              <a:defRPr sz="2400">
                <a:solidFill>
                  <a:srgbClr val="212121"/>
                </a:solidFill>
              </a:defRPr>
            </a:pPr>
            <a:r>
              <a:rPr sz="1600" dirty="0"/>
              <a:t>• K=2 → </a:t>
            </a:r>
            <a:r>
              <a:rPr sz="1600" dirty="0" err="1"/>
              <a:t>Inertie</a:t>
            </a:r>
            <a:r>
              <a:rPr sz="1600" dirty="0"/>
              <a:t> = 1449</a:t>
            </a:r>
          </a:p>
          <a:p>
            <a:pPr>
              <a:spcBef>
                <a:spcPts val="1000"/>
              </a:spcBef>
              <a:defRPr sz="2400">
                <a:solidFill>
                  <a:srgbClr val="212121"/>
                </a:solidFill>
              </a:defRPr>
            </a:pPr>
            <a:r>
              <a:rPr sz="1600" dirty="0"/>
              <a:t>• K=3 → </a:t>
            </a:r>
            <a:r>
              <a:rPr sz="1600" dirty="0" err="1"/>
              <a:t>Inertie</a:t>
            </a:r>
            <a:r>
              <a:rPr sz="1600" dirty="0"/>
              <a:t> = 1108 </a:t>
            </a:r>
          </a:p>
          <a:p>
            <a:pPr>
              <a:spcBef>
                <a:spcPts val="1000"/>
              </a:spcBef>
              <a:defRPr sz="2400">
                <a:solidFill>
                  <a:srgbClr val="212121"/>
                </a:solidFill>
              </a:defRPr>
            </a:pPr>
            <a:r>
              <a:rPr sz="1600" dirty="0"/>
              <a:t>• K=4 → </a:t>
            </a:r>
            <a:r>
              <a:rPr sz="1600" dirty="0" err="1"/>
              <a:t>Inertie</a:t>
            </a:r>
            <a:r>
              <a:rPr sz="1600" dirty="0"/>
              <a:t> = 928</a:t>
            </a:r>
          </a:p>
          <a:p>
            <a:pPr>
              <a:spcBef>
                <a:spcPts val="1000"/>
              </a:spcBef>
              <a:defRPr sz="2400">
                <a:solidFill>
                  <a:srgbClr val="212121"/>
                </a:solidFill>
              </a:defRPr>
            </a:pPr>
            <a:r>
              <a:rPr sz="1600" dirty="0"/>
              <a:t>• K=5 → </a:t>
            </a:r>
            <a:r>
              <a:rPr sz="1600" dirty="0" err="1"/>
              <a:t>Inertie</a:t>
            </a:r>
            <a:r>
              <a:rPr sz="1600" dirty="0"/>
              <a:t> = 775</a:t>
            </a:r>
          </a:p>
          <a:p>
            <a:pPr>
              <a:spcBef>
                <a:spcPts val="1000"/>
              </a:spcBef>
              <a:defRPr sz="2400">
                <a:solidFill>
                  <a:srgbClr val="212121"/>
                </a:solidFill>
              </a:defRPr>
            </a:pPr>
            <a:endParaRPr sz="1600" dirty="0"/>
          </a:p>
          <a:p>
            <a:pPr>
              <a:spcBef>
                <a:spcPts val="1000"/>
              </a:spcBef>
              <a:defRPr sz="2400">
                <a:solidFill>
                  <a:srgbClr val="212121"/>
                </a:solidFill>
              </a:defRPr>
            </a:pPr>
            <a:r>
              <a:rPr sz="1600" dirty="0"/>
              <a:t>✅ </a:t>
            </a:r>
            <a:r>
              <a:rPr sz="1600" dirty="0" err="1"/>
              <a:t>Coude</a:t>
            </a:r>
            <a:r>
              <a:rPr sz="1600" dirty="0"/>
              <a:t> </a:t>
            </a:r>
            <a:r>
              <a:rPr lang="fr-FR" sz="1600" dirty="0"/>
              <a:t>retenu</a:t>
            </a:r>
            <a:r>
              <a:rPr sz="1600" dirty="0"/>
              <a:t> à K=4</a:t>
            </a:r>
          </a:p>
          <a:p>
            <a:pPr>
              <a:spcBef>
                <a:spcPts val="1000"/>
              </a:spcBef>
              <a:defRPr sz="2400">
                <a:solidFill>
                  <a:srgbClr val="212121"/>
                </a:solidFill>
              </a:defRPr>
            </a:pPr>
            <a:r>
              <a:rPr lang="fr-FR" sz="1600" dirty="0"/>
              <a:t>(+ cohérent avec la </a:t>
            </a:r>
            <a:r>
              <a:rPr sz="1600" dirty="0"/>
              <a:t>CAH</a:t>
            </a:r>
            <a:r>
              <a:rPr lang="fr-FR" sz="1600" dirty="0"/>
              <a:t>)</a:t>
            </a:r>
            <a:endParaRPr sz="1600" dirty="0"/>
          </a:p>
        </p:txBody>
      </p:sp>
      <p:pic>
        <p:nvPicPr>
          <p:cNvPr id="6" name="Image 5" descr="Une image contenant texte, capture d’écran, ligne, diagramme&#10;&#10;Le contenu généré par l’IA peut être incorrect.">
            <a:extLst>
              <a:ext uri="{FF2B5EF4-FFF2-40B4-BE49-F238E27FC236}">
                <a16:creationId xmlns:a16="http://schemas.microsoft.com/office/drawing/2014/main" id="{ED8099C4-98E4-5D6F-4F95-D54816D61610}"/>
              </a:ext>
            </a:extLst>
          </p:cNvPr>
          <p:cNvPicPr>
            <a:picLocks noChangeAspect="1"/>
          </p:cNvPicPr>
          <p:nvPr/>
        </p:nvPicPr>
        <p:blipFill>
          <a:blip r:embed="rId3"/>
          <a:stretch>
            <a:fillRect/>
          </a:stretch>
        </p:blipFill>
        <p:spPr>
          <a:xfrm>
            <a:off x="3254477" y="2021777"/>
            <a:ext cx="5889523" cy="34154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Segmentation finale</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35974" y="1257698"/>
            <a:ext cx="8131278" cy="338554"/>
          </a:xfrm>
          <a:prstGeom prst="rect">
            <a:avLst/>
          </a:prstGeom>
          <a:noFill/>
        </p:spPr>
        <p:txBody>
          <a:bodyPr wrap="square">
            <a:spAutoFit/>
          </a:bodyPr>
          <a:lstStyle/>
          <a:p>
            <a:pPr>
              <a:spcBef>
                <a:spcPts val="1000"/>
              </a:spcBef>
              <a:defRPr sz="2400">
                <a:solidFill>
                  <a:srgbClr val="212121"/>
                </a:solidFill>
              </a:defRPr>
            </a:pPr>
            <a:r>
              <a:rPr sz="1600" dirty="0"/>
              <a:t>🎨 168 pays </a:t>
            </a:r>
            <a:r>
              <a:rPr sz="1600" dirty="0" err="1"/>
              <a:t>répartis</a:t>
            </a:r>
            <a:r>
              <a:rPr sz="1600" dirty="0"/>
              <a:t> </a:t>
            </a:r>
            <a:r>
              <a:rPr sz="1600" dirty="0" err="1"/>
              <a:t>en</a:t>
            </a:r>
            <a:r>
              <a:rPr sz="1600" dirty="0"/>
              <a:t> 4 clusters </a:t>
            </a:r>
            <a:r>
              <a:rPr lang="fr-FR" sz="1600" dirty="0"/>
              <a:t>- La projection CP1–CP2 met en évidence 4 groupes</a:t>
            </a:r>
            <a:endParaRPr sz="1600" dirty="0"/>
          </a:p>
        </p:txBody>
      </p:sp>
      <p:pic>
        <p:nvPicPr>
          <p:cNvPr id="6" name="Image 5" descr="Une image contenant texte, capture d’écran, diagramme, carte&#10;&#10;Le contenu généré par l’IA peut être incorrect.">
            <a:extLst>
              <a:ext uri="{FF2B5EF4-FFF2-40B4-BE49-F238E27FC236}">
                <a16:creationId xmlns:a16="http://schemas.microsoft.com/office/drawing/2014/main" id="{04E5C00D-E5BC-E0AF-C5DE-0D21E1B27D44}"/>
              </a:ext>
            </a:extLst>
          </p:cNvPr>
          <p:cNvPicPr>
            <a:picLocks noChangeAspect="1"/>
          </p:cNvPicPr>
          <p:nvPr/>
        </p:nvPicPr>
        <p:blipFill>
          <a:blip r:embed="rId3"/>
          <a:stretch>
            <a:fillRect/>
          </a:stretch>
        </p:blipFill>
        <p:spPr>
          <a:xfrm>
            <a:off x="0" y="1568838"/>
            <a:ext cx="9143999" cy="52891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Caractéristiques des clusters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mage 5" descr="Une image contenant texte, capture d’écran, Rectangle, carré&#10;&#10;Le contenu généré par l’IA peut être incorrect.">
            <a:extLst>
              <a:ext uri="{FF2B5EF4-FFF2-40B4-BE49-F238E27FC236}">
                <a16:creationId xmlns:a16="http://schemas.microsoft.com/office/drawing/2014/main" id="{1E9187A4-52F9-0574-867E-802DE4522215}"/>
              </a:ext>
            </a:extLst>
          </p:cNvPr>
          <p:cNvPicPr>
            <a:picLocks noChangeAspect="1"/>
          </p:cNvPicPr>
          <p:nvPr/>
        </p:nvPicPr>
        <p:blipFill>
          <a:blip r:embed="rId3"/>
          <a:stretch>
            <a:fillRect/>
          </a:stretch>
        </p:blipFill>
        <p:spPr>
          <a:xfrm>
            <a:off x="0" y="2866570"/>
            <a:ext cx="9144000" cy="3903651"/>
          </a:xfrm>
          <a:prstGeom prst="rect">
            <a:avLst/>
          </a:prstGeom>
        </p:spPr>
      </p:pic>
      <p:sp>
        <p:nvSpPr>
          <p:cNvPr id="7" name="ZoneTexte 6">
            <a:extLst>
              <a:ext uri="{FF2B5EF4-FFF2-40B4-BE49-F238E27FC236}">
                <a16:creationId xmlns:a16="http://schemas.microsoft.com/office/drawing/2014/main" id="{839B83F0-78DB-573D-063A-BCBC6A410C53}"/>
              </a:ext>
            </a:extLst>
          </p:cNvPr>
          <p:cNvSpPr txBox="1"/>
          <p:nvPr/>
        </p:nvSpPr>
        <p:spPr>
          <a:xfrm>
            <a:off x="457200" y="1199535"/>
            <a:ext cx="8372168" cy="1569660"/>
          </a:xfrm>
          <a:prstGeom prst="rect">
            <a:avLst/>
          </a:prstGeom>
          <a:noFill/>
        </p:spPr>
        <p:txBody>
          <a:bodyPr wrap="square" rtlCol="0">
            <a:spAutoFit/>
          </a:bodyPr>
          <a:lstStyle/>
          <a:p>
            <a:r>
              <a:rPr lang="fr-FR" sz="1600" dirty="0" err="1"/>
              <a:t>Heatmap</a:t>
            </a:r>
            <a:r>
              <a:rPr lang="fr-FR" sz="1600" dirty="0"/>
              <a:t> en z-scores : vert = au-dessus de la moyenne, rouge = en dessous.</a:t>
            </a:r>
          </a:p>
          <a:p>
            <a:endParaRPr lang="fr-FR" sz="1600" dirty="0"/>
          </a:p>
          <a:p>
            <a:r>
              <a:rPr lang="fr-FR" sz="1600" b="1" dirty="0"/>
              <a:t>Cluster 1 </a:t>
            </a:r>
            <a:r>
              <a:rPr lang="fr-FR" sz="1600" dirty="0"/>
              <a:t>: production + échanges viande/volaille élevés.</a:t>
            </a:r>
          </a:p>
          <a:p>
            <a:r>
              <a:rPr lang="fr-FR" sz="1600" b="1" dirty="0"/>
              <a:t>Cluster 0 </a:t>
            </a:r>
            <a:r>
              <a:rPr lang="fr-FR" sz="1600" dirty="0"/>
              <a:t>: niveaux globalement faibles (production, échanges, protéines).</a:t>
            </a:r>
          </a:p>
          <a:p>
            <a:r>
              <a:rPr lang="fr-FR" sz="1600" b="1" dirty="0"/>
              <a:t>Cluster 2 </a:t>
            </a:r>
            <a:r>
              <a:rPr lang="fr-FR" sz="1600" dirty="0"/>
              <a:t>: profil “développé/stable” (PIB/</a:t>
            </a:r>
            <a:r>
              <a:rPr lang="fr-FR" sz="1600" dirty="0" err="1"/>
              <a:t>hab</a:t>
            </a:r>
            <a:r>
              <a:rPr lang="fr-FR" sz="1600" dirty="0"/>
              <a:t>, stabilité).</a:t>
            </a:r>
          </a:p>
          <a:p>
            <a:r>
              <a:rPr lang="fr-FR" sz="1600" b="1" dirty="0"/>
              <a:t>Cluster 3 </a:t>
            </a:r>
            <a:r>
              <a:rPr lang="fr-FR" sz="1600" dirty="0"/>
              <a:t>: profil importateur (imports élevés, plutôt riche).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Cluster 0 : Marchés émergents (86 pays)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78426" y="1583949"/>
            <a:ext cx="7315200" cy="4442242"/>
          </a:xfrm>
          <a:prstGeom prst="rect">
            <a:avLst/>
          </a:prstGeom>
          <a:noFill/>
        </p:spPr>
        <p:txBody>
          <a:bodyPr wrap="square">
            <a:spAutoFit/>
          </a:bodyPr>
          <a:lstStyle/>
          <a:p>
            <a:pPr>
              <a:spcBef>
                <a:spcPts val="1000"/>
              </a:spcBef>
              <a:defRPr sz="2400">
                <a:solidFill>
                  <a:srgbClr val="212121"/>
                </a:solidFill>
              </a:defRPr>
            </a:pPr>
            <a:r>
              <a:rPr dirty="0"/>
              <a:t>⏳ </a:t>
            </a:r>
            <a:r>
              <a:rPr dirty="0" err="1"/>
              <a:t>Profil</a:t>
            </a:r>
            <a:r>
              <a:rPr dirty="0"/>
              <a:t> :</a:t>
            </a:r>
          </a:p>
          <a:p>
            <a:pPr>
              <a:spcBef>
                <a:spcPts val="1000"/>
              </a:spcBef>
              <a:defRPr sz="2400">
                <a:solidFill>
                  <a:srgbClr val="212121"/>
                </a:solidFill>
              </a:defRPr>
            </a:pPr>
            <a:r>
              <a:rPr dirty="0"/>
              <a:t>  • PIB/</a:t>
            </a:r>
            <a:r>
              <a:rPr dirty="0" err="1"/>
              <a:t>hab</a:t>
            </a:r>
            <a:r>
              <a:rPr dirty="0"/>
              <a:t> : 2 844 USD</a:t>
            </a:r>
          </a:p>
          <a:p>
            <a:pPr>
              <a:spcBef>
                <a:spcPts val="1000"/>
              </a:spcBef>
              <a:defRPr sz="2400">
                <a:solidFill>
                  <a:srgbClr val="212121"/>
                </a:solidFill>
              </a:defRPr>
            </a:pPr>
            <a:r>
              <a:rPr dirty="0"/>
              <a:t>  • </a:t>
            </a:r>
            <a:r>
              <a:rPr dirty="0" err="1"/>
              <a:t>Consommation</a:t>
            </a:r>
            <a:r>
              <a:rPr dirty="0"/>
              <a:t> : 11.7 g/</a:t>
            </a:r>
            <a:r>
              <a:rPr dirty="0" err="1"/>
              <a:t>personne</a:t>
            </a:r>
            <a:r>
              <a:rPr dirty="0"/>
              <a:t>/jour</a:t>
            </a:r>
          </a:p>
          <a:p>
            <a:pPr>
              <a:spcBef>
                <a:spcPts val="1000"/>
              </a:spcBef>
              <a:defRPr sz="2400">
                <a:solidFill>
                  <a:srgbClr val="212121"/>
                </a:solidFill>
              </a:defRPr>
            </a:pPr>
            <a:r>
              <a:rPr dirty="0"/>
              <a:t>  • </a:t>
            </a:r>
            <a:r>
              <a:rPr dirty="0" err="1"/>
              <a:t>Stabilité</a:t>
            </a:r>
            <a:r>
              <a:rPr dirty="0"/>
              <a:t> : -0.45 (instable)</a:t>
            </a:r>
          </a:p>
          <a:p>
            <a:pPr>
              <a:spcBef>
                <a:spcPts val="1000"/>
              </a:spcBef>
              <a:defRPr sz="2400">
                <a:solidFill>
                  <a:srgbClr val="212121"/>
                </a:solidFill>
              </a:defRPr>
            </a:pPr>
            <a:endParaRPr dirty="0"/>
          </a:p>
          <a:p>
            <a:pPr>
              <a:spcBef>
                <a:spcPts val="1000"/>
              </a:spcBef>
              <a:defRPr sz="2400">
                <a:solidFill>
                  <a:srgbClr val="212121"/>
                </a:solidFill>
              </a:defRPr>
            </a:pPr>
            <a:r>
              <a:rPr dirty="0"/>
              <a:t>📍 </a:t>
            </a:r>
            <a:r>
              <a:rPr dirty="0" err="1"/>
              <a:t>Exemples</a:t>
            </a:r>
            <a:r>
              <a:rPr dirty="0"/>
              <a:t> : Afghanistan, Bangladesh, Angola</a:t>
            </a:r>
          </a:p>
          <a:p>
            <a:pPr>
              <a:spcBef>
                <a:spcPts val="1000"/>
              </a:spcBef>
              <a:defRPr sz="2400">
                <a:solidFill>
                  <a:srgbClr val="212121"/>
                </a:solidFill>
              </a:defRPr>
            </a:pPr>
            <a:endParaRPr dirty="0"/>
          </a:p>
          <a:p>
            <a:pPr>
              <a:spcBef>
                <a:spcPts val="1000"/>
              </a:spcBef>
              <a:defRPr sz="2400">
                <a:solidFill>
                  <a:srgbClr val="212121"/>
                </a:solidFill>
              </a:defRPr>
            </a:pPr>
            <a:r>
              <a:rPr dirty="0"/>
              <a:t>🎯 </a:t>
            </a:r>
            <a:r>
              <a:rPr dirty="0" err="1"/>
              <a:t>Stratégie</a:t>
            </a:r>
            <a:r>
              <a:rPr dirty="0"/>
              <a:t> : VEILLE - Non </a:t>
            </a:r>
            <a:r>
              <a:rPr dirty="0" err="1"/>
              <a:t>prioritaires</a:t>
            </a:r>
            <a:endParaRPr dirty="0"/>
          </a:p>
          <a:p>
            <a:pPr>
              <a:spcBef>
                <a:spcPts val="1000"/>
              </a:spcBef>
              <a:defRPr sz="2400">
                <a:solidFill>
                  <a:srgbClr val="212121"/>
                </a:solidFill>
              </a:defRPr>
            </a:pPr>
            <a:r>
              <a:rPr dirty="0"/>
              <a:t>   Surveillance à long </a:t>
            </a:r>
            <a:r>
              <a:rPr dirty="0" err="1"/>
              <a:t>terme</a:t>
            </a:r>
            <a:r>
              <a:rPr dirty="0"/>
              <a:t> (5-10 </a:t>
            </a:r>
            <a:r>
              <a:rPr dirty="0" err="1"/>
              <a:t>ans</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Cluster 1 : Géants mondiaux (3 pays)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7315200" cy="4811574"/>
          </a:xfrm>
          <a:prstGeom prst="rect">
            <a:avLst/>
          </a:prstGeom>
          <a:noFill/>
        </p:spPr>
        <p:txBody>
          <a:bodyPr wrap="square">
            <a:spAutoFit/>
          </a:bodyPr>
          <a:lstStyle/>
          <a:p>
            <a:pPr>
              <a:spcBef>
                <a:spcPts val="1000"/>
              </a:spcBef>
              <a:defRPr sz="2400">
                <a:solidFill>
                  <a:srgbClr val="212121"/>
                </a:solidFill>
              </a:defRPr>
            </a:pPr>
            <a:r>
              <a:rPr dirty="0"/>
              <a:t>🥉 Les 3 </a:t>
            </a:r>
            <a:r>
              <a:rPr dirty="0" err="1"/>
              <a:t>superpuissances</a:t>
            </a:r>
            <a:r>
              <a:rPr dirty="0"/>
              <a:t> :</a:t>
            </a:r>
          </a:p>
          <a:p>
            <a:pPr>
              <a:spcBef>
                <a:spcPts val="1000"/>
              </a:spcBef>
              <a:defRPr sz="2400">
                <a:solidFill>
                  <a:srgbClr val="212121"/>
                </a:solidFill>
              </a:defRPr>
            </a:pPr>
            <a:r>
              <a:rPr dirty="0"/>
              <a:t>  • 🇧🇷 </a:t>
            </a:r>
            <a:r>
              <a:rPr dirty="0" err="1"/>
              <a:t>Brésil</a:t>
            </a:r>
            <a:endParaRPr dirty="0"/>
          </a:p>
          <a:p>
            <a:pPr>
              <a:spcBef>
                <a:spcPts val="1000"/>
              </a:spcBef>
              <a:defRPr sz="2400">
                <a:solidFill>
                  <a:srgbClr val="212121"/>
                </a:solidFill>
              </a:defRPr>
            </a:pPr>
            <a:r>
              <a:rPr dirty="0"/>
              <a:t>  • 🇨🇳 Chine</a:t>
            </a:r>
          </a:p>
          <a:p>
            <a:pPr>
              <a:spcBef>
                <a:spcPts val="1000"/>
              </a:spcBef>
              <a:defRPr sz="2400">
                <a:solidFill>
                  <a:srgbClr val="212121"/>
                </a:solidFill>
              </a:defRPr>
            </a:pPr>
            <a:r>
              <a:rPr dirty="0"/>
              <a:t>  • 🇺🇸 États-Unis</a:t>
            </a:r>
          </a:p>
          <a:p>
            <a:pPr>
              <a:spcBef>
                <a:spcPts val="1000"/>
              </a:spcBef>
              <a:defRPr sz="2400">
                <a:solidFill>
                  <a:srgbClr val="212121"/>
                </a:solidFill>
              </a:defRPr>
            </a:pPr>
            <a:r>
              <a:rPr dirty="0"/>
              <a:t>📊 Production : 52 963 </a:t>
            </a:r>
            <a:r>
              <a:rPr dirty="0" err="1"/>
              <a:t>tonnes</a:t>
            </a:r>
            <a:endParaRPr dirty="0"/>
          </a:p>
          <a:p>
            <a:pPr>
              <a:spcBef>
                <a:spcPts val="1000"/>
              </a:spcBef>
              <a:defRPr sz="2400">
                <a:solidFill>
                  <a:srgbClr val="212121"/>
                </a:solidFill>
              </a:defRPr>
            </a:pPr>
            <a:r>
              <a:rPr dirty="0"/>
              <a:t>📤 Exportations : 5 268 </a:t>
            </a:r>
            <a:r>
              <a:rPr dirty="0" err="1"/>
              <a:t>tonnes</a:t>
            </a:r>
            <a:endParaRPr dirty="0"/>
          </a:p>
          <a:p>
            <a:pPr>
              <a:spcBef>
                <a:spcPts val="1000"/>
              </a:spcBef>
              <a:defRPr sz="2400">
                <a:solidFill>
                  <a:srgbClr val="212121"/>
                </a:solidFill>
              </a:defRPr>
            </a:pPr>
            <a:endParaRPr dirty="0"/>
          </a:p>
          <a:p>
            <a:pPr>
              <a:spcBef>
                <a:spcPts val="1000"/>
              </a:spcBef>
              <a:defRPr sz="2400">
                <a:solidFill>
                  <a:srgbClr val="212121"/>
                </a:solidFill>
              </a:defRPr>
            </a:pPr>
            <a:r>
              <a:rPr dirty="0"/>
              <a:t>🎯 </a:t>
            </a:r>
            <a:r>
              <a:rPr dirty="0" err="1"/>
              <a:t>Stratégie</a:t>
            </a:r>
            <a:r>
              <a:rPr dirty="0"/>
              <a:t> : NICHES PREMIUM B2B</a:t>
            </a:r>
          </a:p>
          <a:p>
            <a:pPr>
              <a:spcBef>
                <a:spcPts val="1000"/>
              </a:spcBef>
              <a:defRPr sz="2400">
                <a:solidFill>
                  <a:srgbClr val="212121"/>
                </a:solidFill>
              </a:defRPr>
            </a:pPr>
            <a:r>
              <a:rPr dirty="0"/>
              <a:t>   Segments haut de </a:t>
            </a:r>
            <a:r>
              <a:rPr dirty="0" err="1"/>
              <a:t>gamme</a:t>
            </a:r>
            <a:r>
              <a:rPr dirty="0"/>
              <a:t> </a:t>
            </a:r>
            <a:r>
              <a:rPr dirty="0" err="1"/>
              <a:t>uniquement</a:t>
            </a:r>
            <a:r>
              <a:rPr lang="fr-FR" dirty="0"/>
              <a:t> (marchés complexes / concurrence forte)</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Cluster 2 : Pays développés (73 pays)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7419" y="1291959"/>
            <a:ext cx="7315200" cy="5062924"/>
          </a:xfrm>
          <a:prstGeom prst="rect">
            <a:avLst/>
          </a:prstGeom>
          <a:noFill/>
        </p:spPr>
        <p:txBody>
          <a:bodyPr wrap="square">
            <a:spAutoFit/>
          </a:bodyPr>
          <a:lstStyle/>
          <a:p>
            <a:pPr>
              <a:spcBef>
                <a:spcPts val="1000"/>
              </a:spcBef>
              <a:defRPr sz="2400">
                <a:solidFill>
                  <a:srgbClr val="212121"/>
                </a:solidFill>
              </a:defRPr>
            </a:pPr>
            <a:r>
              <a:rPr lang="fr-FR" dirty="0"/>
              <a:t>🥈Phase 2</a:t>
            </a:r>
            <a:endParaRPr dirty="0"/>
          </a:p>
          <a:p>
            <a:pPr>
              <a:spcBef>
                <a:spcPts val="1000"/>
              </a:spcBef>
              <a:defRPr sz="2400">
                <a:solidFill>
                  <a:srgbClr val="212121"/>
                </a:solidFill>
              </a:defRPr>
            </a:pPr>
            <a:r>
              <a:rPr dirty="0"/>
              <a:t>📍 UE, </a:t>
            </a:r>
            <a:r>
              <a:rPr dirty="0" err="1"/>
              <a:t>Japon</a:t>
            </a:r>
            <a:r>
              <a:rPr dirty="0"/>
              <a:t>, Canada, </a:t>
            </a:r>
            <a:r>
              <a:rPr dirty="0" err="1"/>
              <a:t>Australie</a:t>
            </a:r>
            <a:r>
              <a:rPr dirty="0"/>
              <a:t>...</a:t>
            </a:r>
          </a:p>
          <a:p>
            <a:pPr>
              <a:spcBef>
                <a:spcPts val="1000"/>
              </a:spcBef>
              <a:defRPr sz="2400">
                <a:solidFill>
                  <a:srgbClr val="212121"/>
                </a:solidFill>
              </a:defRPr>
            </a:pPr>
            <a:endParaRPr dirty="0"/>
          </a:p>
          <a:p>
            <a:pPr marL="342900" indent="-342900">
              <a:spcBef>
                <a:spcPts val="1000"/>
              </a:spcBef>
              <a:buFont typeface="Arial" panose="020B0604020202020204" pitchFamily="34" charset="0"/>
              <a:buChar char="•"/>
              <a:defRPr sz="2400">
                <a:solidFill>
                  <a:srgbClr val="212121"/>
                </a:solidFill>
              </a:defRPr>
            </a:pPr>
            <a:r>
              <a:rPr dirty="0" err="1"/>
              <a:t>Consommation</a:t>
            </a:r>
            <a:r>
              <a:rPr dirty="0"/>
              <a:t> </a:t>
            </a:r>
            <a:r>
              <a:rPr dirty="0" err="1"/>
              <a:t>élevée</a:t>
            </a:r>
            <a:r>
              <a:rPr dirty="0"/>
              <a:t> : 32 g/j</a:t>
            </a:r>
          </a:p>
          <a:p>
            <a:pPr marL="342900" indent="-342900">
              <a:spcBef>
                <a:spcPts val="1000"/>
              </a:spcBef>
              <a:buFont typeface="Arial" panose="020B0604020202020204" pitchFamily="34" charset="0"/>
              <a:buChar char="•"/>
              <a:defRPr sz="2400">
                <a:solidFill>
                  <a:srgbClr val="212121"/>
                </a:solidFill>
              </a:defRPr>
            </a:pPr>
            <a:r>
              <a:rPr dirty="0"/>
              <a:t> Importations &gt; Production</a:t>
            </a:r>
          </a:p>
          <a:p>
            <a:pPr marL="342900" indent="-342900">
              <a:spcBef>
                <a:spcPts val="1000"/>
              </a:spcBef>
              <a:buFont typeface="Arial" panose="020B0604020202020204" pitchFamily="34" charset="0"/>
              <a:buChar char="•"/>
              <a:defRPr sz="2400">
                <a:solidFill>
                  <a:srgbClr val="212121"/>
                </a:solidFill>
              </a:defRPr>
            </a:pPr>
            <a:r>
              <a:rPr dirty="0"/>
              <a:t> </a:t>
            </a:r>
            <a:r>
              <a:rPr dirty="0" err="1"/>
              <a:t>Stabilité</a:t>
            </a:r>
            <a:r>
              <a:rPr dirty="0"/>
              <a:t> : +1.17</a:t>
            </a:r>
          </a:p>
          <a:p>
            <a:pPr marL="342900" indent="-342900">
              <a:spcBef>
                <a:spcPts val="1000"/>
              </a:spcBef>
              <a:buFont typeface="Arial" panose="020B0604020202020204" pitchFamily="34" charset="0"/>
              <a:buChar char="•"/>
              <a:defRPr sz="2400">
                <a:solidFill>
                  <a:srgbClr val="212121"/>
                </a:solidFill>
              </a:defRPr>
            </a:pPr>
            <a:r>
              <a:rPr dirty="0"/>
              <a:t> </a:t>
            </a:r>
            <a:r>
              <a:rPr dirty="0" err="1"/>
              <a:t>Pouvoir</a:t>
            </a:r>
            <a:r>
              <a:rPr dirty="0"/>
              <a:t> </a:t>
            </a:r>
            <a:r>
              <a:rPr dirty="0" err="1"/>
              <a:t>d'achat</a:t>
            </a:r>
            <a:r>
              <a:rPr dirty="0"/>
              <a:t> </a:t>
            </a:r>
            <a:r>
              <a:rPr dirty="0" err="1"/>
              <a:t>élevé</a:t>
            </a:r>
            <a:endParaRPr dirty="0"/>
          </a:p>
          <a:p>
            <a:pPr>
              <a:spcBef>
                <a:spcPts val="1000"/>
              </a:spcBef>
              <a:defRPr sz="2400">
                <a:solidFill>
                  <a:srgbClr val="212121"/>
                </a:solidFill>
              </a:defRPr>
            </a:pPr>
            <a:endParaRPr dirty="0"/>
          </a:p>
          <a:p>
            <a:pPr>
              <a:spcBef>
                <a:spcPts val="1000"/>
              </a:spcBef>
              <a:defRPr sz="2400">
                <a:solidFill>
                  <a:srgbClr val="212121"/>
                </a:solidFill>
              </a:defRPr>
            </a:pPr>
            <a:r>
              <a:rPr dirty="0"/>
              <a:t>🎯 </a:t>
            </a:r>
            <a:r>
              <a:rPr dirty="0" err="1"/>
              <a:t>Stratégie</a:t>
            </a:r>
            <a:r>
              <a:rPr dirty="0"/>
              <a:t> : </a:t>
            </a:r>
            <a:r>
              <a:rPr lang="fr-FR" dirty="0"/>
              <a:t>DÉPLOIEMENT SÉLECTIF</a:t>
            </a:r>
            <a:endParaRPr dirty="0"/>
          </a:p>
          <a:p>
            <a:pPr>
              <a:spcBef>
                <a:spcPts val="1000"/>
              </a:spcBef>
              <a:defRPr sz="2400">
                <a:solidFill>
                  <a:srgbClr val="212121"/>
                </a:solidFill>
              </a:defRPr>
            </a:pPr>
            <a:r>
              <a:rPr lang="fr-FR" sz="1600" dirty="0"/>
              <a:t>Marchés attractifs mais très concurrentiels / Ciblage par pays / par segments (qualité + volumes)</a:t>
            </a:r>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Cluster 3 : Hubs stratégiques (6 pays)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207008"/>
            <a:ext cx="7649497" cy="5678478"/>
          </a:xfrm>
          <a:prstGeom prst="rect">
            <a:avLst/>
          </a:prstGeom>
          <a:noFill/>
        </p:spPr>
        <p:txBody>
          <a:bodyPr wrap="square">
            <a:spAutoFit/>
          </a:bodyPr>
          <a:lstStyle/>
          <a:p>
            <a:pPr>
              <a:spcBef>
                <a:spcPts val="1000"/>
              </a:spcBef>
              <a:defRPr sz="2400">
                <a:solidFill>
                  <a:srgbClr val="212121"/>
                </a:solidFill>
              </a:defRPr>
            </a:pPr>
            <a:r>
              <a:rPr lang="fr-FR" dirty="0"/>
              <a:t>🥇 Effet de levier maximal</a:t>
            </a:r>
            <a:endParaRPr dirty="0"/>
          </a:p>
          <a:p>
            <a:pPr>
              <a:spcBef>
                <a:spcPts val="1000"/>
              </a:spcBef>
              <a:defRPr sz="2400">
                <a:solidFill>
                  <a:srgbClr val="212121"/>
                </a:solidFill>
              </a:defRPr>
            </a:pPr>
            <a:r>
              <a:rPr dirty="0"/>
              <a:t>📍 France, </a:t>
            </a:r>
            <a:r>
              <a:rPr dirty="0" err="1"/>
              <a:t>Allemagne</a:t>
            </a:r>
            <a:r>
              <a:rPr dirty="0"/>
              <a:t>, Hong-Kong,</a:t>
            </a:r>
            <a:r>
              <a:rPr lang="fr-FR" dirty="0"/>
              <a:t> </a:t>
            </a:r>
            <a:r>
              <a:rPr dirty="0"/>
              <a:t>Arabie </a:t>
            </a:r>
            <a:r>
              <a:rPr dirty="0" err="1"/>
              <a:t>Saoudite</a:t>
            </a:r>
            <a:r>
              <a:rPr dirty="0"/>
              <a:t>,</a:t>
            </a:r>
            <a:r>
              <a:rPr lang="fr-FR" dirty="0"/>
              <a:t> </a:t>
            </a:r>
            <a:r>
              <a:rPr dirty="0" err="1"/>
              <a:t>Mexique</a:t>
            </a:r>
            <a:r>
              <a:rPr lang="fr-FR" dirty="0"/>
              <a:t>, Royaume-Uni</a:t>
            </a:r>
            <a:endParaRPr dirty="0"/>
          </a:p>
          <a:p>
            <a:pPr>
              <a:spcBef>
                <a:spcPts val="1000"/>
              </a:spcBef>
              <a:defRPr sz="2400">
                <a:solidFill>
                  <a:srgbClr val="212121"/>
                </a:solidFill>
              </a:defRPr>
            </a:pPr>
            <a:endParaRPr lang="fr-FR" dirty="0"/>
          </a:p>
          <a:p>
            <a:pPr marL="180000" indent="-285750">
              <a:spcBef>
                <a:spcPts val="600"/>
              </a:spcBef>
              <a:buFont typeface="Arial" panose="020B0604020202020204" pitchFamily="34" charset="0"/>
              <a:buChar char="•"/>
              <a:defRPr sz="2400">
                <a:solidFill>
                  <a:srgbClr val="212121"/>
                </a:solidFill>
              </a:defRPr>
            </a:pPr>
            <a:r>
              <a:rPr lang="fr-FR" dirty="0"/>
              <a:t>Proximité &amp; logistique (Allemagne / voisins)</a:t>
            </a:r>
          </a:p>
          <a:p>
            <a:pPr marL="180000" indent="-285750">
              <a:spcBef>
                <a:spcPts val="600"/>
              </a:spcBef>
              <a:buFont typeface="Arial" panose="020B0604020202020204" pitchFamily="34" charset="0"/>
              <a:buChar char="•"/>
              <a:defRPr sz="2400">
                <a:solidFill>
                  <a:srgbClr val="212121"/>
                </a:solidFill>
              </a:defRPr>
            </a:pPr>
            <a:r>
              <a:rPr lang="fr-FR" dirty="0"/>
              <a:t>Marché déjà connu (France = pays d’origine)</a:t>
            </a:r>
          </a:p>
          <a:p>
            <a:pPr marL="180000" indent="-285750">
              <a:spcBef>
                <a:spcPts val="600"/>
              </a:spcBef>
              <a:buFont typeface="Arial" panose="020B0604020202020204" pitchFamily="34" charset="0"/>
              <a:buChar char="•"/>
              <a:defRPr sz="2400">
                <a:solidFill>
                  <a:srgbClr val="212121"/>
                </a:solidFill>
              </a:defRPr>
            </a:pPr>
            <a:r>
              <a:rPr lang="fr-FR" dirty="0"/>
              <a:t>Petit cluster : action rapide + pilotage simple</a:t>
            </a:r>
          </a:p>
          <a:p>
            <a:pPr marL="180000" indent="-285750">
              <a:spcBef>
                <a:spcPts val="600"/>
              </a:spcBef>
              <a:buFont typeface="Arial" panose="020B0604020202020204" pitchFamily="34" charset="0"/>
              <a:buChar char="•"/>
              <a:defRPr sz="2400">
                <a:solidFill>
                  <a:srgbClr val="212121"/>
                </a:solidFill>
              </a:defRPr>
            </a:pPr>
            <a:r>
              <a:rPr lang="fr-FR" dirty="0"/>
              <a:t>Hubs = accès à une région (plateformes import/</a:t>
            </a:r>
            <a:r>
              <a:rPr lang="fr-FR" dirty="0" err="1"/>
              <a:t>réexport</a:t>
            </a:r>
            <a:r>
              <a:rPr lang="fr-FR" dirty="0"/>
              <a:t>)</a:t>
            </a:r>
          </a:p>
          <a:p>
            <a:pPr>
              <a:spcBef>
                <a:spcPts val="1000"/>
              </a:spcBef>
              <a:defRPr sz="2400">
                <a:solidFill>
                  <a:srgbClr val="212121"/>
                </a:solidFill>
              </a:defRPr>
            </a:pPr>
            <a:endParaRPr lang="fr-FR" dirty="0"/>
          </a:p>
          <a:p>
            <a:pPr>
              <a:spcBef>
                <a:spcPts val="1000"/>
              </a:spcBef>
              <a:defRPr sz="2400">
                <a:solidFill>
                  <a:srgbClr val="212121"/>
                </a:solidFill>
              </a:defRPr>
            </a:pPr>
            <a:r>
              <a:rPr lang="fr-FR" dirty="0"/>
              <a:t>🎯 Stratégie : HUBS LOGISTIQUES</a:t>
            </a:r>
          </a:p>
          <a:p>
            <a:pPr>
              <a:spcBef>
                <a:spcPts val="1000"/>
              </a:spcBef>
              <a:defRPr sz="2400">
                <a:solidFill>
                  <a:srgbClr val="212121"/>
                </a:solidFill>
              </a:defRPr>
            </a:pPr>
            <a:r>
              <a:rPr lang="fr-FR" dirty="0"/>
              <a:t>1 hub = accès à tout un marché régional(Arabie Saoudite : opportunité MENA + sujet halal/certif à anticiper)</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Hiérarchisation des marchés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7922" y="1350953"/>
            <a:ext cx="7315200" cy="4801314"/>
          </a:xfrm>
          <a:prstGeom prst="rect">
            <a:avLst/>
          </a:prstGeom>
          <a:noFill/>
        </p:spPr>
        <p:txBody>
          <a:bodyPr wrap="square">
            <a:spAutoFit/>
          </a:bodyPr>
          <a:lstStyle/>
          <a:p>
            <a:r>
              <a:rPr lang="fr-FR" b="1" dirty="0"/>
              <a:t>Plan d’action :</a:t>
            </a:r>
          </a:p>
          <a:p>
            <a:endParaRPr lang="fr-FR" b="1" dirty="0"/>
          </a:p>
          <a:p>
            <a:r>
              <a:rPr lang="fr-FR" dirty="0"/>
              <a:t>🥇 </a:t>
            </a:r>
            <a:r>
              <a:rPr lang="fr-FR" b="1" dirty="0"/>
              <a:t>Court terme (0–18 mois) : Cluster 3 (Hubs)</a:t>
            </a:r>
            <a:endParaRPr lang="fr-FR" dirty="0"/>
          </a:p>
          <a:p>
            <a:r>
              <a:rPr lang="fr-FR" dirty="0"/>
              <a:t>Focus : </a:t>
            </a:r>
            <a:r>
              <a:rPr lang="fr-FR" b="1" dirty="0"/>
              <a:t>Allemagne + Royaume-Uni + France</a:t>
            </a:r>
            <a:r>
              <a:rPr lang="fr-FR" dirty="0"/>
              <a:t> (effet proximité / marchés connus)</a:t>
            </a:r>
          </a:p>
          <a:p>
            <a:r>
              <a:rPr lang="fr-FR" dirty="0"/>
              <a:t>Extensions : </a:t>
            </a:r>
            <a:r>
              <a:rPr lang="fr-FR" b="1" dirty="0"/>
              <a:t>Hong-Kong + Arabie Saoudite + Mexique</a:t>
            </a:r>
            <a:r>
              <a:rPr lang="fr-FR" dirty="0"/>
              <a:t> (portes d’entrée régionales)</a:t>
            </a:r>
          </a:p>
          <a:p>
            <a:endParaRPr lang="fr-FR" dirty="0"/>
          </a:p>
          <a:p>
            <a:r>
              <a:rPr lang="fr-FR" dirty="0"/>
              <a:t>🥈 </a:t>
            </a:r>
            <a:r>
              <a:rPr lang="fr-FR" b="1" dirty="0"/>
              <a:t>Moyen terme (18–36 mois) : Cluster 2 (Développés)</a:t>
            </a:r>
            <a:endParaRPr lang="fr-FR" dirty="0"/>
          </a:p>
          <a:p>
            <a:r>
              <a:rPr lang="fr-FR" dirty="0"/>
              <a:t>Déploiement </a:t>
            </a:r>
            <a:r>
              <a:rPr lang="fr-FR" b="1" dirty="0"/>
              <a:t>sélectif</a:t>
            </a:r>
            <a:r>
              <a:rPr lang="fr-FR" dirty="0"/>
              <a:t> : UE + Japon + Canada + Australie…</a:t>
            </a:r>
          </a:p>
          <a:p>
            <a:endParaRPr lang="fr-FR" dirty="0"/>
          </a:p>
          <a:p>
            <a:r>
              <a:rPr lang="fr-FR" dirty="0"/>
              <a:t>🥉 </a:t>
            </a:r>
            <a:r>
              <a:rPr lang="fr-FR" b="1" dirty="0"/>
              <a:t>Long terme (3–5 ans) : Cluster 1 (Géants)</a:t>
            </a:r>
            <a:endParaRPr lang="fr-FR" dirty="0"/>
          </a:p>
          <a:p>
            <a:r>
              <a:rPr lang="fr-FR" dirty="0"/>
              <a:t>Niches premium B2B : </a:t>
            </a:r>
            <a:r>
              <a:rPr lang="fr-FR" b="1" dirty="0"/>
              <a:t>USA + Chine + Brésil</a:t>
            </a:r>
          </a:p>
          <a:p>
            <a:endParaRPr lang="fr-FR" b="1" dirty="0"/>
          </a:p>
          <a:p>
            <a:endParaRPr lang="fr-FR" dirty="0"/>
          </a:p>
          <a:p>
            <a:r>
              <a:rPr lang="fr-FR" dirty="0"/>
              <a:t>⏳ </a:t>
            </a:r>
            <a:r>
              <a:rPr lang="fr-FR" b="1" dirty="0"/>
              <a:t>Très long terme (5–10 ans) : Cluster 0 (Émergents)</a:t>
            </a:r>
            <a:endParaRPr lang="fr-FR" dirty="0"/>
          </a:p>
          <a:p>
            <a:r>
              <a:rPr lang="fr-FR" dirty="0"/>
              <a:t>Veille / opportunités à maturité</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Choix méthodologiques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7315200" cy="4154984"/>
          </a:xfrm>
          <a:prstGeom prst="rect">
            <a:avLst/>
          </a:prstGeom>
          <a:noFill/>
        </p:spPr>
        <p:txBody>
          <a:bodyPr wrap="square">
            <a:spAutoFit/>
          </a:bodyPr>
          <a:lstStyle/>
          <a:p>
            <a:r>
              <a:rPr lang="fr-FR" sz="2400" dirty="0"/>
              <a:t>✅ </a:t>
            </a:r>
            <a:r>
              <a:rPr lang="fr-FR" sz="2400" b="1" dirty="0"/>
              <a:t>Standardisation (centrage-réduction)</a:t>
            </a:r>
            <a:br>
              <a:rPr lang="fr-FR" sz="2400" dirty="0"/>
            </a:br>
            <a:r>
              <a:rPr lang="fr-FR" sz="2400" dirty="0"/>
              <a:t>→ variables comparables (mêmes unités)</a:t>
            </a:r>
          </a:p>
          <a:p>
            <a:endParaRPr lang="fr-FR" sz="2400" dirty="0"/>
          </a:p>
          <a:p>
            <a:r>
              <a:rPr lang="fr-FR" sz="2400" dirty="0"/>
              <a:t>✅ </a:t>
            </a:r>
            <a:r>
              <a:rPr lang="fr-FR" sz="2400" b="1" dirty="0"/>
              <a:t>ACP avant clustering</a:t>
            </a:r>
            <a:br>
              <a:rPr lang="fr-FR" sz="2400" dirty="0"/>
            </a:br>
            <a:r>
              <a:rPr lang="fr-FR" sz="2400" dirty="0"/>
              <a:t>→ réduction du bruit + visualisation en 2D</a:t>
            </a:r>
          </a:p>
          <a:p>
            <a:endParaRPr lang="fr-FR" sz="2400" dirty="0"/>
          </a:p>
          <a:p>
            <a:r>
              <a:rPr lang="fr-FR" sz="2400" dirty="0"/>
              <a:t>✅ </a:t>
            </a:r>
            <a:r>
              <a:rPr lang="fr-FR" sz="2400" b="1" dirty="0"/>
              <a:t>K=4 retenu</a:t>
            </a:r>
            <a:br>
              <a:rPr lang="fr-FR" sz="2400" dirty="0"/>
            </a:br>
            <a:r>
              <a:rPr lang="fr-FR" sz="2400" dirty="0"/>
              <a:t>→ convergence : </a:t>
            </a:r>
            <a:r>
              <a:rPr lang="fr-FR" sz="2400" b="1" dirty="0"/>
              <a:t>visuel (CP1–CP2) + CAH (Ward) + coude K-</a:t>
            </a:r>
            <a:r>
              <a:rPr lang="fr-FR" sz="2400" b="1" dirty="0" err="1"/>
              <a:t>means</a:t>
            </a:r>
            <a:endParaRPr lang="fr-FR" sz="2400" dirty="0"/>
          </a:p>
          <a:p>
            <a:endParaRPr lang="fr-FR" sz="2400" dirty="0"/>
          </a:p>
          <a:p>
            <a:r>
              <a:rPr lang="fr-FR" sz="2400" dirty="0"/>
              <a:t>💡 </a:t>
            </a:r>
            <a:r>
              <a:rPr lang="fr-FR" sz="2400" b="1" dirty="0"/>
              <a:t>Conclusion :</a:t>
            </a:r>
            <a:r>
              <a:rPr lang="fr-FR" sz="2400" dirty="0"/>
              <a:t> choix robustes (triangulation)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600" b="1">
                <a:solidFill>
                  <a:srgbClr val="2E7D32"/>
                </a:solidFill>
              </a:defRPr>
            </a:pPr>
            <a:r>
              <a:t>De 168 pays à 4 stratégies</a:t>
            </a:r>
          </a:p>
        </p:txBody>
      </p:sp>
      <p:sp>
        <p:nvSpPr>
          <p:cNvPr id="3" name="Rectangle 2"/>
          <p:cNvSpPr/>
          <p:nvPr/>
        </p:nvSpPr>
        <p:spPr>
          <a:xfrm>
            <a:off x="457200" y="1097280"/>
            <a:ext cx="8229600" cy="1828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761" y="1999881"/>
            <a:ext cx="7315200" cy="3046988"/>
          </a:xfrm>
          <a:prstGeom prst="rect">
            <a:avLst/>
          </a:prstGeom>
          <a:noFill/>
        </p:spPr>
        <p:txBody>
          <a:bodyPr wrap="square">
            <a:spAutoFit/>
          </a:bodyPr>
          <a:lstStyle/>
          <a:p>
            <a:r>
              <a:rPr lang="fr-FR" sz="2400" dirty="0"/>
              <a:t>🎯 </a:t>
            </a:r>
            <a:r>
              <a:rPr lang="fr-FR" sz="2400" b="1" dirty="0"/>
              <a:t>Cheminement :</a:t>
            </a:r>
          </a:p>
          <a:p>
            <a:endParaRPr lang="fr-FR" sz="2400" dirty="0"/>
          </a:p>
          <a:p>
            <a:pPr marL="285750" indent="-285750">
              <a:buFont typeface="Arial" panose="020B0604020202020204" pitchFamily="34" charset="0"/>
              <a:buChar char="•"/>
            </a:pPr>
            <a:r>
              <a:rPr lang="fr-FR" sz="2400" b="1" dirty="0"/>
              <a:t>168 pays / 12 variables</a:t>
            </a:r>
            <a:endParaRPr lang="fr-FR" sz="2400" dirty="0"/>
          </a:p>
          <a:p>
            <a:pPr marL="285750" indent="-285750">
              <a:buFont typeface="Arial" panose="020B0604020202020204" pitchFamily="34" charset="0"/>
              <a:buChar char="•"/>
            </a:pPr>
            <a:r>
              <a:rPr lang="fr-FR" sz="2400" b="1" dirty="0"/>
              <a:t>ACP</a:t>
            </a:r>
            <a:r>
              <a:rPr lang="fr-FR" sz="2400" dirty="0"/>
              <a:t> → axes synthétiques</a:t>
            </a:r>
          </a:p>
          <a:p>
            <a:pPr marL="285750" indent="-285750">
              <a:buFont typeface="Arial" panose="020B0604020202020204" pitchFamily="34" charset="0"/>
              <a:buChar char="•"/>
            </a:pPr>
            <a:r>
              <a:rPr lang="fr-FR" sz="2400" b="1" dirty="0"/>
              <a:t>Clustering (K=4)</a:t>
            </a:r>
            <a:r>
              <a:rPr lang="fr-FR" sz="2400" dirty="0"/>
              <a:t> → groupes homogènes</a:t>
            </a:r>
          </a:p>
          <a:p>
            <a:pPr marL="285750" indent="-285750">
              <a:buFont typeface="Arial" panose="020B0604020202020204" pitchFamily="34" charset="0"/>
              <a:buChar char="•"/>
            </a:pPr>
            <a:r>
              <a:rPr lang="fr-FR" sz="2400" b="1" dirty="0"/>
              <a:t>Interprétation</a:t>
            </a:r>
            <a:r>
              <a:rPr lang="fr-FR" sz="2400" dirty="0"/>
              <a:t> → </a:t>
            </a:r>
            <a:r>
              <a:rPr lang="fr-FR" sz="2400" b="1" dirty="0"/>
              <a:t>4 stratégies de marché</a:t>
            </a:r>
            <a:endParaRPr lang="fr-FR" sz="2400" dirty="0"/>
          </a:p>
          <a:p>
            <a:endParaRPr lang="fr-FR" sz="2400" dirty="0"/>
          </a:p>
          <a:p>
            <a:r>
              <a:rPr lang="fr-FR" sz="2400" dirty="0"/>
              <a:t>✅ </a:t>
            </a:r>
            <a:r>
              <a:rPr lang="fr-FR" sz="2400" b="1" dirty="0"/>
              <a:t>Résultat : segmentation lisible et actionnable</a:t>
            </a:r>
            <a:endParaRPr lang="fr-F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8BC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8229600" cy="1371600"/>
          </a:xfrm>
          <a:prstGeom prst="rect">
            <a:avLst/>
          </a:prstGeom>
          <a:noFill/>
        </p:spPr>
        <p:txBody>
          <a:bodyPr wrap="none">
            <a:spAutoFit/>
          </a:bodyPr>
          <a:lstStyle/>
          <a:p>
            <a:pPr algn="ctr">
              <a:defRPr sz="5400" b="1">
                <a:solidFill>
                  <a:srgbClr val="FFFFFF"/>
                </a:solidFill>
              </a:defRPr>
            </a:pPr>
            <a:r>
              <a:t>Merci de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971</TotalTime>
  <Words>3889</Words>
  <Application>Microsoft Office PowerPoint</Application>
  <PresentationFormat>Affichage à l'écran (4:3)</PresentationFormat>
  <Paragraphs>310</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Olivia Mirzal</dc:creator>
  <cp:keywords/>
  <dc:description>generated using python-pptx</dc:description>
  <cp:lastModifiedBy>Olivia TAURAND</cp:lastModifiedBy>
  <cp:revision>1</cp:revision>
  <dcterms:created xsi:type="dcterms:W3CDTF">2013-01-27T09:14:16Z</dcterms:created>
  <dcterms:modified xsi:type="dcterms:W3CDTF">2026-01-05T12:56:50Z</dcterms:modified>
  <cp:category/>
</cp:coreProperties>
</file>